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423" r:id="rId2"/>
    <p:sldId id="449" r:id="rId3"/>
    <p:sldId id="446" r:id="rId4"/>
    <p:sldId id="448" r:id="rId5"/>
    <p:sldId id="461" r:id="rId6"/>
    <p:sldId id="447" r:id="rId7"/>
    <p:sldId id="394" r:id="rId8"/>
    <p:sldId id="450" r:id="rId9"/>
    <p:sldId id="451" r:id="rId10"/>
    <p:sldId id="452" r:id="rId11"/>
    <p:sldId id="454" r:id="rId12"/>
    <p:sldId id="453" r:id="rId13"/>
    <p:sldId id="460" r:id="rId14"/>
    <p:sldId id="463" r:id="rId15"/>
    <p:sldId id="464" r:id="rId16"/>
    <p:sldId id="466" r:id="rId17"/>
    <p:sldId id="455" r:id="rId18"/>
    <p:sldId id="458" r:id="rId19"/>
    <p:sldId id="462" r:id="rId20"/>
    <p:sldId id="465" r:id="rId21"/>
    <p:sldId id="435"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4"/>
    <p:restoredTop sz="79318"/>
  </p:normalViewPr>
  <p:slideViewPr>
    <p:cSldViewPr snapToGrid="0" snapToObjects="1">
      <p:cViewPr varScale="1">
        <p:scale>
          <a:sx n="162" d="100"/>
          <a:sy n="162" d="100"/>
        </p:scale>
        <p:origin x="14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552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As context windows grow in size, when agents don’t do what you want the initial instinct might be to include more context, examples, constraints. Just prompt the agent harder, that should fix it, right? Wrong. Why doesn’t this work?</a:t>
            </a:r>
          </a:p>
        </p:txBody>
      </p:sp>
    </p:spTree>
    <p:extLst>
      <p:ext uri="{BB962C8B-B14F-4D97-AF65-F5344CB8AC3E}">
        <p14:creationId xmlns:p14="http://schemas.microsoft.com/office/powerpoint/2010/main" val="1284475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And </a:t>
            </a:r>
            <a:r>
              <a:rPr lang="en-US" dirty="0" err="1"/>
              <a:t>theres</a:t>
            </a:r>
            <a:r>
              <a:rPr lang="en-US" dirty="0"/>
              <a:t> the cost of it all, you may get some performance as models get better but there is something called the lost in the middle effect. You don’t get the full context window, agents have degraded performance over certain thresholds so you aren’t getting the benefit of the full context window and you are paying for the tokens anyways. You need to find the balance that gives you the highest performance at the best cost. </a:t>
            </a:r>
          </a:p>
        </p:txBody>
      </p:sp>
    </p:spTree>
    <p:extLst>
      <p:ext uri="{BB962C8B-B14F-4D97-AF65-F5344CB8AC3E}">
        <p14:creationId xmlns:p14="http://schemas.microsoft.com/office/powerpoint/2010/main" val="1749458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We will use the Strands Agents SDK for individual context-engineering patterns, then Strands Harness to assemble the defaults. This starting agent uses </a:t>
            </a:r>
            <a:r>
              <a:rPr lang="en-US" dirty="0" err="1"/>
              <a:t>file_editor</a:t>
            </a:r>
            <a:r>
              <a:rPr lang="en-US" dirty="0"/>
              <a:t>, shell, and </a:t>
            </a:r>
            <a:r>
              <a:rPr lang="en-US" dirty="0" err="1"/>
              <a:t>web_fetch</a:t>
            </a:r>
            <a:r>
              <a:rPr lang="en-US" dirty="0"/>
              <a:t> from </a:t>
            </a:r>
            <a:r>
              <a:rPr lang="en-US" dirty="0" err="1"/>
              <a:t>strands.vended_tools</a:t>
            </a:r>
            <a:r>
              <a:rPr lang="en-US" dirty="0"/>
              <a:t>. Exa supplies web search through its hosted MCP server. </a:t>
            </a:r>
            <a:r>
              <a:rPr lang="en-US" dirty="0" err="1"/>
              <a:t>MCPClient.load_servers</a:t>
            </a:r>
            <a:r>
              <a:rPr lang="en-US" dirty="0"/>
              <a:t> returns clients; *search includes those clients in the agent tools, with lifecycle managed by Strands. Exa does not require an API key to get started with this hosted endpoint.</a:t>
            </a:r>
          </a:p>
          <a:p>
            <a:r>
              <a:rPr lang="en-US" dirty="0"/>
              <a:t>Install the web-fetch extra: pip install "strands-agents[web-fetch]"</a:t>
            </a:r>
          </a:p>
          <a:p>
            <a:r>
              <a:rPr lang="en-US" dirty="0" err="1"/>
              <a:t>web_fetch</a:t>
            </a:r>
            <a:r>
              <a:rPr lang="en-US" dirty="0"/>
              <a:t> reads a known URL; Exa discovers pages through search. The default </a:t>
            </a:r>
            <a:r>
              <a:rPr lang="en-US" dirty="0" err="1"/>
              <a:t>web_fetch</a:t>
            </a:r>
            <a:r>
              <a:rPr lang="en-US" dirty="0"/>
              <a:t> mode uses an analyst agent to answer a targeted prompt about the page.</a:t>
            </a:r>
          </a:p>
          <a:p>
            <a:r>
              <a:rPr lang="en-US" dirty="0"/>
              <a:t>A base Agent maintains conversation history and has default conversation management. We have not yet configured the automatic offloading and summarization strategy, persistent sessions, long-term memory, or skills shown later.</a:t>
            </a:r>
          </a:p>
          <a:p>
            <a:r>
              <a:rPr lang="en-US" dirty="0"/>
              <a:t>Sources: https://</a:t>
            </a:r>
            <a:r>
              <a:rPr lang="en-US" dirty="0" err="1"/>
              <a:t>strandsagents.com</a:t>
            </a:r>
            <a:r>
              <a:rPr lang="en-US" dirty="0"/>
              <a:t>/docs/user-guide/</a:t>
            </a:r>
            <a:r>
              <a:rPr lang="en-US" dirty="0" err="1"/>
              <a:t>sdk</a:t>
            </a:r>
            <a:r>
              <a:rPr lang="en-US" dirty="0"/>
              <a:t>/tools/vended-tools/</a:t>
            </a:r>
          </a:p>
          <a:p>
            <a:r>
              <a:rPr lang="en-US" dirty="0"/>
              <a:t>https://</a:t>
            </a:r>
            <a:r>
              <a:rPr lang="en-US" dirty="0" err="1"/>
              <a:t>strandsagents.com</a:t>
            </a:r>
            <a:r>
              <a:rPr lang="en-US" dirty="0"/>
              <a:t>/docs/user-guide/</a:t>
            </a:r>
            <a:r>
              <a:rPr lang="en-US" dirty="0" err="1"/>
              <a:t>sdk</a:t>
            </a:r>
            <a:r>
              <a:rPr lang="en-US" dirty="0"/>
              <a:t>/tools/</a:t>
            </a:r>
            <a:r>
              <a:rPr lang="en-US" dirty="0" err="1"/>
              <a:t>mcp</a:t>
            </a:r>
            <a:r>
              <a:rPr lang="en-US" dirty="0"/>
              <a:t>-tools/</a:t>
            </a:r>
          </a:p>
          <a:p>
            <a:r>
              <a:rPr lang="en-US" dirty="0"/>
              <a:t>https://</a:t>
            </a:r>
            <a:r>
              <a:rPr lang="en-US" dirty="0" err="1"/>
              <a:t>exa.ai</a:t>
            </a:r>
            <a:r>
              <a:rPr lang="en-US" dirty="0"/>
              <a:t>/docs/reference/exa-</a:t>
            </a:r>
            <a:r>
              <a:rPr lang="en-US" dirty="0" err="1"/>
              <a:t>mcp</a:t>
            </a:r>
            <a:endParaRPr lang="en-US" dirty="0"/>
          </a:p>
        </p:txBody>
      </p:sp>
    </p:spTree>
    <p:extLst>
      <p:ext uri="{BB962C8B-B14F-4D97-AF65-F5344CB8AC3E}">
        <p14:creationId xmlns:p14="http://schemas.microsoft.com/office/powerpoint/2010/main" val="3871715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Will show examples for each of these then at the end show you a one line default that gives you a reasonable default </a:t>
            </a:r>
            <a:r>
              <a:rPr lang="en-US" dirty="0" err="1"/>
              <a:t>ouf</a:t>
            </a:r>
            <a:r>
              <a:rPr lang="en-US" dirty="0"/>
              <a:t> the box </a:t>
            </a:r>
          </a:p>
        </p:txBody>
      </p:sp>
    </p:spTree>
    <p:extLst>
      <p:ext uri="{BB962C8B-B14F-4D97-AF65-F5344CB8AC3E}">
        <p14:creationId xmlns:p14="http://schemas.microsoft.com/office/powerpoint/2010/main" val="269011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a:t>Add a built-in conversation manager with an eviction policy</a:t>
            </a:r>
          </a:p>
          <a:p>
            <a:pPr marL="285750" indent="-285750">
              <a:buFont typeface="Arial" panose="020B0604020202020204" pitchFamily="34" charset="0"/>
              <a:buChar char="•"/>
            </a:pPr>
            <a:r>
              <a:rPr lang="en-US" sz="1200" dirty="0"/>
              <a:t>Sliding Window</a:t>
            </a:r>
          </a:p>
          <a:p>
            <a:pPr marL="285750" indent="-285750">
              <a:buFont typeface="Arial" panose="020B0604020202020204" pitchFamily="34" charset="0"/>
              <a:buChar char="•"/>
            </a:pPr>
            <a:r>
              <a:rPr lang="en-US" sz="1200" dirty="0"/>
              <a:t>Summarization</a:t>
            </a:r>
          </a:p>
          <a:p>
            <a:pPr marL="285750" indent="-285750">
              <a:buFont typeface="Arial" panose="020B0604020202020204" pitchFamily="34" charset="0"/>
              <a:buChar char="•"/>
            </a:pPr>
            <a:r>
              <a:rPr lang="en-US" sz="1200" dirty="0"/>
              <a:t>Combination</a:t>
            </a:r>
          </a:p>
          <a:p>
            <a:pPr marL="285750" indent="-285750">
              <a:buFont typeface="Arial" panose="020B0604020202020204" pitchFamily="34" charset="0"/>
              <a:buChar char="•"/>
            </a:pPr>
            <a:r>
              <a:rPr lang="en-US" sz="1200" dirty="0"/>
              <a:t>Forgets too fast and remembers for too long</a:t>
            </a:r>
          </a:p>
          <a:p>
            <a:pPr marL="285750" indent="-285750">
              <a:buFont typeface="Arial" panose="020B0604020202020204" pitchFamily="34" charset="0"/>
              <a:buChar char="•"/>
            </a:pPr>
            <a:r>
              <a:rPr lang="en-US" sz="1200" dirty="0">
                <a:latin typeface="Amazon Ember" panose="020B0603020204020204" pitchFamily="34" charset="0"/>
                <a:ea typeface="Amazon Ember" panose="020B0603020204020204" pitchFamily="34" charset="0"/>
                <a:cs typeface="Amazon Ember" panose="020B0603020204020204" pitchFamily="34" charset="0"/>
              </a:rPr>
              <a:t>Summarization compacts relevant and important details</a:t>
            </a:r>
          </a:p>
          <a:p>
            <a:pPr marL="285750" indent="-285750">
              <a:buFont typeface="Arial" panose="020B0604020202020204" pitchFamily="34" charset="0"/>
              <a:buChar char="•"/>
            </a:pPr>
            <a:r>
              <a:rPr lang="en-US" sz="1200" dirty="0">
                <a:latin typeface="Amazon Ember" panose="020B0603020204020204" pitchFamily="34" charset="0"/>
                <a:ea typeface="Amazon Ember" panose="020B0603020204020204" pitchFamily="34" charset="0"/>
                <a:cs typeface="Amazon Ember" panose="020B0603020204020204" pitchFamily="34" charset="0"/>
              </a:rPr>
              <a:t>Sliding window is too absolute</a:t>
            </a:r>
          </a:p>
          <a:p>
            <a:endParaRPr lang="en-US" dirty="0"/>
          </a:p>
        </p:txBody>
      </p:sp>
    </p:spTree>
    <p:extLst>
      <p:ext uri="{BB962C8B-B14F-4D97-AF65-F5344CB8AC3E}">
        <p14:creationId xmlns:p14="http://schemas.microsoft.com/office/powerpoint/2010/main" val="3041318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example uses the experimental strategy API. At 85% estimated context utilization, summarize older messages and preserve the four most recent matching messages. Stash is disabled here to show compression by itself; later we add durable storage and retrieval. You can provide a separate summarization model and a </a:t>
            </a:r>
            <a:r>
              <a:rPr lang="en-US" dirty="0" err="1"/>
              <a:t>system_prompt</a:t>
            </a:r>
            <a:r>
              <a:rPr lang="en-US" dirty="0"/>
              <a:t> through </a:t>
            </a:r>
            <a:r>
              <a:rPr lang="en-US" dirty="0" err="1"/>
              <a:t>Offload.summarize</a:t>
            </a:r>
            <a:r>
              <a:rPr lang="en-US" dirty="0"/>
              <a:t> options to preserve workload-specific details.</a:t>
            </a:r>
          </a:p>
          <a:p>
            <a:r>
              <a:rPr lang="en-US" dirty="0"/>
              <a:t>Source: https://</a:t>
            </a:r>
            <a:r>
              <a:rPr lang="en-US" dirty="0" err="1"/>
              <a:t>strandsagents.com</a:t>
            </a:r>
            <a:r>
              <a:rPr lang="en-US" dirty="0"/>
              <a:t>/docs/user-guide/</a:t>
            </a:r>
            <a:r>
              <a:rPr lang="en-US" dirty="0" err="1"/>
              <a:t>sdk</a:t>
            </a:r>
            <a:r>
              <a:rPr lang="en-US" dirty="0"/>
              <a:t>/context-management/custom-strategies/</a:t>
            </a:r>
          </a:p>
        </p:txBody>
      </p:sp>
    </p:spTree>
    <p:extLst>
      <p:ext uri="{BB962C8B-B14F-4D97-AF65-F5344CB8AC3E}">
        <p14:creationId xmlns:p14="http://schemas.microsoft.com/office/powerpoint/2010/main" val="884806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These are useful memory patterns, not three capabilities that every agent gets automatically. Short-term memory manages the active conversation. Long-term memory extracts and retrieves useful facts across tasks. Relational memory adds entities and relationships when the application needs them. The next example connects a standard Strands Agent to </a:t>
            </a:r>
            <a:r>
              <a:rPr lang="en-US" dirty="0" err="1"/>
              <a:t>AgentCore</a:t>
            </a:r>
            <a:r>
              <a:rPr lang="en-US" dirty="0"/>
              <a:t> long-term memory through </a:t>
            </a:r>
            <a:r>
              <a:rPr lang="en-US" dirty="0" err="1"/>
              <a:t>MemoryManager</a:t>
            </a:r>
            <a:r>
              <a:rPr lang="en-US" dirty="0"/>
              <a:t> and </a:t>
            </a:r>
            <a:r>
              <a:rPr lang="en-US" dirty="0" err="1"/>
              <a:t>AgentCoreMemoryStore</a:t>
            </a:r>
            <a:r>
              <a:rPr lang="en-US" dirty="0"/>
              <a:t>; it does not configure a graph backend.</a:t>
            </a:r>
          </a:p>
        </p:txBody>
      </p:sp>
    </p:spTree>
    <p:extLst>
      <p:ext uri="{BB962C8B-B14F-4D97-AF65-F5344CB8AC3E}">
        <p14:creationId xmlns:p14="http://schemas.microsoft.com/office/powerpoint/2010/main" val="3619653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connects a standard Strands Agent to </a:t>
            </a:r>
            <a:r>
              <a:rPr lang="en-US" dirty="0" err="1"/>
              <a:t>AgentCore</a:t>
            </a:r>
            <a:r>
              <a:rPr lang="en-US" dirty="0"/>
              <a:t> long-term memory through </a:t>
            </a:r>
            <a:r>
              <a:rPr lang="en-US" dirty="0" err="1"/>
              <a:t>MemoryManager</a:t>
            </a:r>
            <a:r>
              <a:rPr lang="en-US" dirty="0"/>
              <a:t>. writable=True permits sending conversation messages, and extraction=True enables dispatch to </a:t>
            </a:r>
            <a:r>
              <a:rPr lang="en-US" dirty="0" err="1"/>
              <a:t>AgentCore</a:t>
            </a:r>
            <a:r>
              <a:rPr lang="en-US" dirty="0"/>
              <a:t> for server-side extraction. </a:t>
            </a:r>
            <a:r>
              <a:rPr lang="en-US" dirty="0" err="1"/>
              <a:t>MemoryManager</a:t>
            </a:r>
            <a:r>
              <a:rPr lang="en-US" dirty="0"/>
              <a:t> provides recall and context injection.</a:t>
            </a:r>
          </a:p>
          <a:p>
            <a:r>
              <a:rPr lang="en-US" dirty="0"/>
              <a:t>Setup: install strands-agents and bedrock-</a:t>
            </a:r>
            <a:r>
              <a:rPr lang="en-US" dirty="0" err="1"/>
              <a:t>agentcore</a:t>
            </a:r>
            <a:r>
              <a:rPr lang="en-US" dirty="0"/>
              <a:t>. Replace YOUR_MEMORY_ID with an existing </a:t>
            </a:r>
            <a:r>
              <a:rPr lang="en-US" dirty="0" err="1"/>
              <a:t>AgentCore</a:t>
            </a:r>
            <a:r>
              <a:rPr lang="en-US" dirty="0"/>
              <a:t> Memory resource in us-east-1. Configure its semantic memory strategy to write to /facts/{</a:t>
            </a:r>
            <a:r>
              <a:rPr lang="en-US" dirty="0" err="1"/>
              <a:t>actorId</a:t>
            </a:r>
            <a:r>
              <a:rPr lang="en-US" dirty="0"/>
              <a:t>}/, or change the namespace in this example to match the strategy already configured. The store does not provision the resource or its strategies.</a:t>
            </a:r>
          </a:p>
          <a:p>
            <a:r>
              <a:rPr lang="en-US" dirty="0"/>
              <a:t>This store recalls the facts namespace. Preferences or summaries in other namespaces require additional read stores or an appropriate subtree query, with only one writer for a shared conversation stream. </a:t>
            </a:r>
            <a:r>
              <a:rPr lang="en-US" dirty="0" err="1"/>
              <a:t>AgentCore</a:t>
            </a:r>
            <a:r>
              <a:rPr lang="en-US" dirty="0"/>
              <a:t> extraction is eventually consistent: newly written knowledge may not be immediately searchable. This is long-term knowledge retrieval, not restoration of the full conversation session.</a:t>
            </a:r>
          </a:p>
          <a:p>
            <a:r>
              <a:rPr lang="en-US" dirty="0"/>
              <a:t>Python source and usage: https://</a:t>
            </a:r>
            <a:r>
              <a:rPr lang="en-US" dirty="0" err="1"/>
              <a:t>github.com</a:t>
            </a:r>
            <a:r>
              <a:rPr lang="en-US" dirty="0"/>
              <a:t>/</a:t>
            </a:r>
            <a:r>
              <a:rPr lang="en-US" dirty="0" err="1"/>
              <a:t>aws</a:t>
            </a:r>
            <a:r>
              <a:rPr lang="en-US" dirty="0"/>
              <a:t>/bedrock-</a:t>
            </a:r>
            <a:r>
              <a:rPr lang="en-US" dirty="0" err="1"/>
              <a:t>agentcore</a:t>
            </a:r>
            <a:r>
              <a:rPr lang="en-US" dirty="0"/>
              <a:t>-</a:t>
            </a:r>
            <a:r>
              <a:rPr lang="en-US" dirty="0" err="1"/>
              <a:t>sdk</a:t>
            </a:r>
            <a:r>
              <a:rPr lang="en-US" dirty="0"/>
              <a:t>-python/blob/main/</a:t>
            </a:r>
            <a:r>
              <a:rPr lang="en-US" dirty="0" err="1"/>
              <a:t>src</a:t>
            </a:r>
            <a:r>
              <a:rPr lang="en-US" dirty="0"/>
              <a:t>/</a:t>
            </a:r>
            <a:r>
              <a:rPr lang="en-US" dirty="0" err="1"/>
              <a:t>bedrock_agentcore</a:t>
            </a:r>
            <a:r>
              <a:rPr lang="en-US" dirty="0"/>
              <a:t>/memory/integrations/strands/</a:t>
            </a:r>
            <a:r>
              <a:rPr lang="en-US" dirty="0" err="1"/>
              <a:t>memorystore</a:t>
            </a:r>
            <a:r>
              <a:rPr lang="en-US" dirty="0"/>
              <a:t>/</a:t>
            </a:r>
            <a:r>
              <a:rPr lang="en-US" dirty="0" err="1"/>
              <a:t>README.md</a:t>
            </a:r>
            <a:endParaRPr lang="en-US" dirty="0"/>
          </a:p>
          <a:p>
            <a:r>
              <a:rPr lang="en-US" dirty="0"/>
              <a:t>Strands memory management: https://</a:t>
            </a:r>
            <a:r>
              <a:rPr lang="en-US" dirty="0" err="1"/>
              <a:t>strandsagents.com</a:t>
            </a:r>
            <a:r>
              <a:rPr lang="en-US" dirty="0"/>
              <a:t>/docs/user-guide/</a:t>
            </a:r>
            <a:r>
              <a:rPr lang="en-US" dirty="0" err="1"/>
              <a:t>sdk</a:t>
            </a:r>
            <a:r>
              <a:rPr lang="en-US" dirty="0"/>
              <a:t>/memory/managing-memory/</a:t>
            </a:r>
          </a:p>
        </p:txBody>
      </p:sp>
    </p:spTree>
    <p:extLst>
      <p:ext uri="{BB962C8B-B14F-4D97-AF65-F5344CB8AC3E}">
        <p14:creationId xmlns:p14="http://schemas.microsoft.com/office/powerpoint/2010/main" val="621486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Harness combines conversation management, sessions, and long-term memory. Reusing a session ID resumes this conversation when the saved session files are available. Long-term memory separately extracts useful knowledge for later tasks. This example uses the default local stores. A CI workflow must save and restore these files across runners.</a:t>
            </a:r>
          </a:p>
          <a:p>
            <a:r>
              <a:rPr lang="en-US" dirty="0"/>
              <a:t>Sources: https://</a:t>
            </a:r>
            <a:r>
              <a:rPr lang="en-US" dirty="0" err="1"/>
              <a:t>strandsagents.com</a:t>
            </a:r>
            <a:r>
              <a:rPr lang="en-US" dirty="0"/>
              <a:t>/docs/user-guide/harness/</a:t>
            </a:r>
            <a:r>
              <a:rPr lang="en-US" dirty="0" err="1"/>
              <a:t>quickstart</a:t>
            </a:r>
            <a:r>
              <a:rPr lang="en-US" dirty="0"/>
              <a:t>/</a:t>
            </a:r>
          </a:p>
          <a:p>
            <a:r>
              <a:rPr lang="en-US" dirty="0"/>
              <a:t>https://</a:t>
            </a:r>
            <a:r>
              <a:rPr lang="en-US" dirty="0" err="1"/>
              <a:t>builder.aws.com</a:t>
            </a:r>
            <a:r>
              <a:rPr lang="en-US" dirty="0"/>
              <a:t>/content/3JgWF0T6PorfoRq7EdgkwO3F96P/stop-starting-from-scratch-build-agents-with-strands-harness</a:t>
            </a:r>
          </a:p>
        </p:txBody>
      </p:sp>
    </p:spTree>
    <p:extLst>
      <p:ext uri="{BB962C8B-B14F-4D97-AF65-F5344CB8AC3E}">
        <p14:creationId xmlns:p14="http://schemas.microsoft.com/office/powerpoint/2010/main" val="1017583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Agents use tools and hooks to bring in data into context. You can bring data in using RAG, leave it to the agent to search for the best fit. Or you can use hooks for deterministic injection of data if your agent always needs some sort of context for its use case.</a:t>
            </a:r>
          </a:p>
        </p:txBody>
      </p:sp>
    </p:spTree>
    <p:extLst>
      <p:ext uri="{BB962C8B-B14F-4D97-AF65-F5344CB8AC3E}">
        <p14:creationId xmlns:p14="http://schemas.microsoft.com/office/powerpoint/2010/main" val="2890564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Skills select specialized instructions only when needed. </a:t>
            </a:r>
            <a:r>
              <a:rPr lang="en-US" dirty="0" err="1"/>
              <a:t>AgentSkills</a:t>
            </a:r>
            <a:r>
              <a:rPr lang="en-US" dirty="0"/>
              <a:t> exposes available skills, and the agent activates the relevant skill before doing the task. The </a:t>
            </a:r>
            <a:r>
              <a:rPr lang="en-US" dirty="0" err="1"/>
              <a:t>file_editor</a:t>
            </a:r>
            <a:r>
              <a:rPr lang="en-US" dirty="0"/>
              <a:t> and shell tools come from </a:t>
            </a:r>
            <a:r>
              <a:rPr lang="en-US" dirty="0" err="1"/>
              <a:t>strands.vended_tools</a:t>
            </a:r>
            <a:r>
              <a:rPr lang="en-US" dirty="0"/>
              <a:t>. </a:t>
            </a:r>
            <a:r>
              <a:rPr lang="en-US" dirty="0" err="1"/>
              <a:t>context_manager</a:t>
            </a:r>
            <a:r>
              <a:rPr lang="en-US" dirty="0"/>
              <a:t>="auto" manages the conversation separately.</a:t>
            </a:r>
          </a:p>
          <a:p>
            <a:r>
              <a:rPr lang="en-US" dirty="0"/>
              <a:t>Source: https://</a:t>
            </a:r>
            <a:r>
              <a:rPr lang="en-US" dirty="0" err="1"/>
              <a:t>builder.aws.com</a:t>
            </a:r>
            <a:r>
              <a:rPr lang="en-US" dirty="0"/>
              <a:t>/content/3J36U47bvNh8qnt6KgNPUVP08q1/quit-tokenmaxxing-4-tips-for-context-engineering-with-code-samples</a:t>
            </a:r>
          </a:p>
        </p:txBody>
      </p:sp>
    </p:spTree>
    <p:extLst>
      <p:ext uri="{BB962C8B-B14F-4D97-AF65-F5344CB8AC3E}">
        <p14:creationId xmlns:p14="http://schemas.microsoft.com/office/powerpoint/2010/main" val="1001528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6EFFD-DA29-4FFE-21E4-5BB5E174F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D3C95C-FB70-01A1-426B-B74FF501274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0206724-668C-C6A3-9C0F-27B3B0B78095}"/>
              </a:ext>
            </a:extLst>
          </p:cNvPr>
          <p:cNvSpPr>
            <a:spLocks noGrp="1"/>
          </p:cNvSpPr>
          <p:nvPr>
            <p:ph type="body" idx="1"/>
          </p:nvPr>
        </p:nvSpPr>
        <p:spPr>
          <a:xfrm>
            <a:off x="514350" y="4400550"/>
            <a:ext cx="4114800" cy="3600450"/>
          </a:xfrm>
          <a:prstGeom prst="rect">
            <a:avLst/>
          </a:prstGeom>
        </p:spPr>
        <p:txBody>
          <a:bodyPr/>
          <a:lstStyle/>
          <a:p>
            <a:r>
              <a:rPr lang="en-US" dirty="0"/>
              <a:t>Tools like http requests, reading data from database, retrieving log files, Api results can be very verbose. Use tool result offloading to externalize that data and only bring it in when needed</a:t>
            </a:r>
          </a:p>
        </p:txBody>
      </p:sp>
    </p:spTree>
    <p:extLst>
      <p:ext uri="{BB962C8B-B14F-4D97-AF65-F5344CB8AC3E}">
        <p14:creationId xmlns:p14="http://schemas.microsoft.com/office/powerpoint/2010/main" val="1661973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Offload truncates tool-result blocks larger than 2,500 tokens to a 500-token preview, then summarizes at 85% utilization while preserving four recent messages. Original content is stashed in </a:t>
            </a:r>
            <a:r>
              <a:rPr lang="en-US" dirty="0" err="1"/>
              <a:t>LocalFileStorage</a:t>
            </a:r>
            <a:r>
              <a:rPr lang="en-US" dirty="0"/>
              <a:t> and can be retrieved with the SDK-provided </a:t>
            </a:r>
            <a:r>
              <a:rPr lang="en-US" dirty="0" err="1"/>
              <a:t>retrieve_context</a:t>
            </a:r>
            <a:r>
              <a:rPr lang="en-US" dirty="0"/>
              <a:t> tool. </a:t>
            </a:r>
            <a:r>
              <a:rPr lang="en-US" dirty="0" err="1"/>
              <a:t>get_service_logs</a:t>
            </a:r>
            <a:r>
              <a:rPr lang="en-US" dirty="0"/>
              <a:t> is the application tool from the blog example; its definition is omitted here. These strategies are currently experimental.</a:t>
            </a:r>
          </a:p>
          <a:p>
            <a:r>
              <a:rPr lang="en-US" dirty="0"/>
              <a:t>Source: https://</a:t>
            </a:r>
            <a:r>
              <a:rPr lang="en-US" dirty="0" err="1"/>
              <a:t>strandsagents.com</a:t>
            </a:r>
            <a:r>
              <a:rPr lang="en-US" dirty="0"/>
              <a:t>/docs/user-guide/</a:t>
            </a:r>
            <a:r>
              <a:rPr lang="en-US" dirty="0" err="1"/>
              <a:t>sdk</a:t>
            </a:r>
            <a:r>
              <a:rPr lang="en-US" dirty="0"/>
              <a:t>/context-management/custom-strategies/</a:t>
            </a:r>
          </a:p>
        </p:txBody>
      </p:sp>
    </p:spTree>
    <p:extLst>
      <p:ext uri="{BB962C8B-B14F-4D97-AF65-F5344CB8AC3E}">
        <p14:creationId xmlns:p14="http://schemas.microsoft.com/office/powerpoint/2010/main" val="3005508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9685C-58C0-4E4B-17FD-BADE4AD83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37FED-EEB6-AE6D-6D17-FEEABBB45BB0}"/>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2F03BBA-E0E9-25AC-D549-C0BC61E0D7D3}"/>
              </a:ext>
            </a:extLst>
          </p:cNvPr>
          <p:cNvSpPr>
            <a:spLocks noGrp="1"/>
          </p:cNvSpPr>
          <p:nvPr>
            <p:ph type="body" idx="1"/>
          </p:nvPr>
        </p:nvSpPr>
        <p:spPr>
          <a:xfrm>
            <a:off x="514350" y="4400550"/>
            <a:ext cx="4114800" cy="3600450"/>
          </a:xfrm>
          <a:prstGeom prst="rect">
            <a:avLst/>
          </a:prstGeom>
        </p:spPr>
        <p:txBody>
          <a:bodyPr/>
          <a:lstStyle/>
          <a:p>
            <a:r>
              <a:rPr lang="en-US" sz="1200" b="0" i="0" kern="1200" dirty="0">
                <a:solidFill>
                  <a:schemeClr val="tx1"/>
                </a:solidFill>
                <a:effectLst/>
                <a:latin typeface="+mn-lt"/>
                <a:ea typeface="+mn-ea"/>
                <a:cs typeface="+mn-cs"/>
              </a:rPr>
              <a:t>The custom offloading and summarization strategies from the previous slide are available as a built-in default: Agent(</a:t>
            </a:r>
            <a:r>
              <a:rPr lang="en-US" sz="1200" b="0" i="0" kern="1200" dirty="0" err="1">
                <a:solidFill>
                  <a:schemeClr val="tx1"/>
                </a:solidFill>
                <a:effectLst/>
                <a:latin typeface="+mn-lt"/>
                <a:ea typeface="+mn-ea"/>
                <a:cs typeface="+mn-cs"/>
              </a:rPr>
              <a:t>context_manager</a:t>
            </a:r>
            <a:r>
              <a:rPr lang="en-US" sz="1200" b="0" i="0" kern="1200" dirty="0">
                <a:solidFill>
                  <a:schemeClr val="tx1"/>
                </a:solidFill>
                <a:effectLst/>
                <a:latin typeface="+mn-lt"/>
                <a:ea typeface="+mn-ea"/>
                <a:cs typeface="+mn-cs"/>
              </a:rPr>
              <a:t>=“auto”).</a:t>
            </a:r>
          </a:p>
          <a:p>
            <a:r>
              <a:rPr lang="en-US" sz="1200" b="0" i="0" kern="1200" dirty="0">
                <a:solidFill>
                  <a:schemeClr val="tx1"/>
                </a:solidFill>
                <a:effectLst/>
                <a:latin typeface="+mn-lt"/>
                <a:ea typeface="+mn-ea"/>
                <a:cs typeface="+mn-cs"/>
              </a:rPr>
              <a:t>Automatic mode offloads tool results above 1,500 tokens, keeps a 750-token preview, and registers a retrieval tool for the full content. At 85% context utilization, it summarizes older messages while preserving the four most recent messages. These defaults differ from the custom thresholds on slide 15.</a:t>
            </a:r>
          </a:p>
          <a:p>
            <a:r>
              <a:rPr lang="en-US" sz="1200" b="0" i="0" kern="1200" dirty="0">
                <a:solidFill>
                  <a:schemeClr val="tx1"/>
                </a:solidFill>
                <a:effectLst/>
                <a:latin typeface="+mn-lt"/>
                <a:ea typeface="+mn-ea"/>
                <a:cs typeface="+mn-cs"/>
              </a:rPr>
              <a:t>This configures context management for a standard Strands Agent. It does not automatically add long-term memory, skills, or subagents. The following examples use the same parameter on each agent. The Context Manager strategy API remains experimental.</a:t>
            </a:r>
          </a:p>
          <a:p>
            <a:r>
              <a:rPr lang="en-US" sz="1200" b="0" i="0" kern="1200" dirty="0">
                <a:solidFill>
                  <a:schemeClr val="tx1"/>
                </a:solidFill>
                <a:effectLst/>
                <a:latin typeface="+mn-lt"/>
                <a:ea typeface="+mn-ea"/>
                <a:cs typeface="+mn-cs"/>
              </a:rPr>
              <a:t>Source: https://</a:t>
            </a:r>
            <a:r>
              <a:rPr lang="en-US" sz="1200" b="0" i="0" kern="1200" dirty="0" err="1">
                <a:solidFill>
                  <a:schemeClr val="tx1"/>
                </a:solidFill>
                <a:effectLst/>
                <a:latin typeface="+mn-lt"/>
                <a:ea typeface="+mn-ea"/>
                <a:cs typeface="+mn-cs"/>
              </a:rPr>
              <a:t>strandsagents.com</a:t>
            </a:r>
            <a:r>
              <a:rPr lang="en-US" sz="1200" b="0" i="0" kern="1200" dirty="0">
                <a:solidFill>
                  <a:schemeClr val="tx1"/>
                </a:solidFill>
                <a:effectLst/>
                <a:latin typeface="+mn-lt"/>
                <a:ea typeface="+mn-ea"/>
                <a:cs typeface="+mn-cs"/>
              </a:rPr>
              <a:t>/docs/user-guide/</a:t>
            </a:r>
            <a:r>
              <a:rPr lang="en-US" sz="1200" b="0" i="0" kern="1200" dirty="0" err="1">
                <a:solidFill>
                  <a:schemeClr val="tx1"/>
                </a:solidFill>
                <a:effectLst/>
                <a:latin typeface="+mn-lt"/>
                <a:ea typeface="+mn-ea"/>
                <a:cs typeface="+mn-cs"/>
              </a:rPr>
              <a:t>sdk</a:t>
            </a:r>
            <a:r>
              <a:rPr lang="en-US" sz="1200" b="0" i="0" kern="1200" dirty="0">
                <a:solidFill>
                  <a:schemeClr val="tx1"/>
                </a:solidFill>
                <a:effectLst/>
                <a:latin typeface="+mn-lt"/>
                <a:ea typeface="+mn-ea"/>
                <a:cs typeface="+mn-cs"/>
              </a:rPr>
              <a:t>/context-management/built-in-modes/</a:t>
            </a:r>
            <a:endParaRPr lang="en-US" dirty="0"/>
          </a:p>
        </p:txBody>
      </p:sp>
    </p:spTree>
    <p:extLst>
      <p:ext uri="{BB962C8B-B14F-4D97-AF65-F5344CB8AC3E}">
        <p14:creationId xmlns:p14="http://schemas.microsoft.com/office/powerpoint/2010/main" val="1747348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Use multi-agent systems or agent as tool to isolate messy or noisy context into subagents to boost reliability and performance across the system. Be aware though that this can drive up token costs. There is a tradeoff to be made.</a:t>
            </a:r>
          </a:p>
        </p:txBody>
      </p:sp>
    </p:spTree>
    <p:extLst>
      <p:ext uri="{BB962C8B-B14F-4D97-AF65-F5344CB8AC3E}">
        <p14:creationId xmlns:p14="http://schemas.microsoft.com/office/powerpoint/2010/main" val="2167240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Name and describe each subagent so the orchestrator can call it as a tool. The log analyzer keeps its own conversation and raw tool results, then returns a concise diagnosis to the parent. </a:t>
            </a:r>
            <a:r>
              <a:rPr lang="en-US" dirty="0" err="1"/>
              <a:t>read_logs</a:t>
            </a:r>
            <a:r>
              <a:rPr lang="en-US" dirty="0"/>
              <a:t> is an application-defined tool; its definition is omitted on this slide. Each agent opts into automatic context management.</a:t>
            </a:r>
          </a:p>
          <a:p>
            <a:r>
              <a:rPr lang="en-US" dirty="0"/>
              <a:t>Source: https://</a:t>
            </a:r>
            <a:r>
              <a:rPr lang="en-US" dirty="0" err="1"/>
              <a:t>builder.aws.com</a:t>
            </a:r>
            <a:r>
              <a:rPr lang="en-US" dirty="0"/>
              <a:t>/content/3J36U47bvNh8qnt6KgNPUVP08q1/quit-tokenmaxxing-4-tips-for-context-engineering-with-code-samples</a:t>
            </a:r>
          </a:p>
        </p:txBody>
      </p:sp>
    </p:spTree>
    <p:extLst>
      <p:ext uri="{BB962C8B-B14F-4D97-AF65-F5344CB8AC3E}">
        <p14:creationId xmlns:p14="http://schemas.microsoft.com/office/powerpoint/2010/main" val="3136459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sz="1200" b="0" i="0" kern="1200" dirty="0">
                <a:solidFill>
                  <a:schemeClr val="tx1"/>
                </a:solidFill>
                <a:effectLst/>
                <a:latin typeface="+mn-lt"/>
                <a:ea typeface="+mn-ea"/>
                <a:cs typeface="+mn-cs"/>
              </a:rPr>
              <a:t>Automatic mode offloads tool results above 1,500 tokens to a 750-token preview and summarizes at 85% utilization, preserving four recent messages. The defaults differ from the custom thresholds on slide 15. This parameter configures SDK context management; Strands Harness adds the broader agent setup. Agentic mode gives the model tools to summarize, truncate, and pin context, with automatic safety nets.</a:t>
            </a:r>
          </a:p>
          <a:p>
            <a:r>
              <a:rPr lang="en-US" sz="1200" b="0" i="0" kern="1200" dirty="0">
                <a:solidFill>
                  <a:schemeClr val="tx1"/>
                </a:solidFill>
                <a:effectLst/>
                <a:latin typeface="+mn-lt"/>
                <a:ea typeface="+mn-ea"/>
                <a:cs typeface="+mn-cs"/>
              </a:rPr>
              <a:t>The reported 55% cost reduction and accuracy increase from 68% to 98% apply to the Strands real-code investigation benchmark, not every workload or a general Harness comparison.</a:t>
            </a:r>
          </a:p>
          <a:p>
            <a:r>
              <a:rPr lang="en-US" sz="1200" b="0" i="0" kern="1200" dirty="0">
                <a:solidFill>
                  <a:schemeClr val="tx1"/>
                </a:solidFill>
                <a:effectLst/>
                <a:latin typeface="+mn-lt"/>
                <a:ea typeface="+mn-ea"/>
                <a:cs typeface="+mn-cs"/>
              </a:rPr>
              <a:t>Sources: https://</a:t>
            </a:r>
            <a:r>
              <a:rPr lang="en-US" sz="1200" b="0" i="0" kern="1200" dirty="0" err="1">
                <a:solidFill>
                  <a:schemeClr val="tx1"/>
                </a:solidFill>
                <a:effectLst/>
                <a:latin typeface="+mn-lt"/>
                <a:ea typeface="+mn-ea"/>
                <a:cs typeface="+mn-cs"/>
              </a:rPr>
              <a:t>strandsagents.com</a:t>
            </a:r>
            <a:r>
              <a:rPr lang="en-US" sz="1200" b="0" i="0" kern="1200" dirty="0">
                <a:solidFill>
                  <a:schemeClr val="tx1"/>
                </a:solidFill>
                <a:effectLst/>
                <a:latin typeface="+mn-lt"/>
                <a:ea typeface="+mn-ea"/>
                <a:cs typeface="+mn-cs"/>
              </a:rPr>
              <a:t>/docs/user-guide/</a:t>
            </a:r>
            <a:r>
              <a:rPr lang="en-US" sz="1200" b="0" i="0" kern="1200" dirty="0" err="1">
                <a:solidFill>
                  <a:schemeClr val="tx1"/>
                </a:solidFill>
                <a:effectLst/>
                <a:latin typeface="+mn-lt"/>
                <a:ea typeface="+mn-ea"/>
                <a:cs typeface="+mn-cs"/>
              </a:rPr>
              <a:t>sdk</a:t>
            </a:r>
            <a:r>
              <a:rPr lang="en-US" sz="1200" b="0" i="0" kern="1200" dirty="0">
                <a:solidFill>
                  <a:schemeClr val="tx1"/>
                </a:solidFill>
                <a:effectLst/>
                <a:latin typeface="+mn-lt"/>
                <a:ea typeface="+mn-ea"/>
                <a:cs typeface="+mn-cs"/>
              </a:rPr>
              <a:t>/context-management/built-in-modes/</a:t>
            </a:r>
          </a:p>
          <a:p>
            <a:r>
              <a:rPr lang="en-US" sz="1200" b="0" i="0" kern="1200" dirty="0">
                <a:solidFill>
                  <a:schemeClr val="tx1"/>
                </a:solidFill>
                <a:effectLst/>
                <a:latin typeface="+mn-lt"/>
                <a:ea typeface="+mn-ea"/>
                <a:cs typeface="+mn-cs"/>
              </a:rPr>
              <a:t>https://</a:t>
            </a:r>
            <a:r>
              <a:rPr lang="en-US" sz="1200" b="0" i="0" kern="1200" dirty="0" err="1">
                <a:solidFill>
                  <a:schemeClr val="tx1"/>
                </a:solidFill>
                <a:effectLst/>
                <a:latin typeface="+mn-lt"/>
                <a:ea typeface="+mn-ea"/>
                <a:cs typeface="+mn-cs"/>
              </a:rPr>
              <a:t>strandsagents.com</a:t>
            </a:r>
            <a:r>
              <a:rPr lang="en-US" sz="1200" b="0" i="0" kern="1200" dirty="0">
                <a:solidFill>
                  <a:schemeClr val="tx1"/>
                </a:solidFill>
                <a:effectLst/>
                <a:latin typeface="+mn-lt"/>
                <a:ea typeface="+mn-ea"/>
                <a:cs typeface="+mn-cs"/>
              </a:rPr>
              <a:t>/blog/reduced-cost-better-isolation-more-resilience/</a:t>
            </a:r>
            <a:endParaRPr lang="en-US" dirty="0"/>
          </a:p>
        </p:txBody>
      </p:sp>
    </p:spTree>
    <p:extLst>
      <p:ext uri="{BB962C8B-B14F-4D97-AF65-F5344CB8AC3E}">
        <p14:creationId xmlns:p14="http://schemas.microsoft.com/office/powerpoint/2010/main" val="13098828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C1792-5BFE-429D-0FC8-66E2F0ABD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96DC2-A945-3303-F650-C08948633CC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B2646EE-1E16-F8DC-94D9-A0F8D9B2224D}"/>
              </a:ext>
            </a:extLst>
          </p:cNvPr>
          <p:cNvSpPr>
            <a:spLocks noGrp="1"/>
          </p:cNvSpPr>
          <p:nvPr>
            <p:ph type="body" idx="1"/>
          </p:nvPr>
        </p:nvSpPr>
        <p:spPr>
          <a:xfrm>
            <a:off x="514350" y="4400550"/>
            <a:ext cx="4114800" cy="3600450"/>
          </a:xfrm>
          <a:prstGeom prst="rect">
            <a:avLst/>
          </a:prstGeom>
        </p:spPr>
        <p:txBody>
          <a:bodyPr/>
          <a:lstStyle/>
          <a:p>
            <a:r>
              <a:rPr lang="en-US" sz="1200" b="0" i="0" kern="1200" dirty="0">
                <a:solidFill>
                  <a:schemeClr val="tx1"/>
                </a:solidFill>
                <a:effectLst/>
                <a:latin typeface="+mn-lt"/>
                <a:ea typeface="+mn-ea"/>
                <a:cs typeface="+mn-cs"/>
              </a:rPr>
              <a:t>Strands Harness assembles context management, vended tools, skills, subagents, sessions, and long-term memory into a configured agent. </a:t>
            </a:r>
            <a:r>
              <a:rPr lang="en-US" sz="1200" b="0" i="0" kern="1200" dirty="0" err="1">
                <a:solidFill>
                  <a:schemeClr val="tx1"/>
                </a:solidFill>
                <a:effectLst/>
                <a:latin typeface="+mn-lt"/>
                <a:ea typeface="+mn-ea"/>
                <a:cs typeface="+mn-cs"/>
              </a:rPr>
              <a:t>create_harness</a:t>
            </a:r>
            <a:r>
              <a:rPr lang="en-US" sz="1200" b="0" i="0" kern="1200" dirty="0">
                <a:solidFill>
                  <a:schemeClr val="tx1"/>
                </a:solidFill>
                <a:effectLst/>
                <a:latin typeface="+mn-lt"/>
                <a:ea typeface="+mn-ea"/>
                <a:cs typeface="+mn-cs"/>
              </a:rPr>
              <a:t> returns a standard Strands Agent that you can extend. Put the docs-writing and humanize skill folders under .agent/skills for this example. The surrounding CI workflow checks out changes, restores persisted files, runs the agent, and handles pull-request creation; those workflow steps are separate from the harness call. This Python pattern adapts the TypeScript documentation-agent story in the Harness blog.</a:t>
            </a:r>
          </a:p>
          <a:p>
            <a:r>
              <a:rPr lang="en-US" sz="1200" b="0" i="0" kern="1200" dirty="0">
                <a:solidFill>
                  <a:schemeClr val="tx1"/>
                </a:solidFill>
                <a:effectLst/>
                <a:latin typeface="+mn-lt"/>
                <a:ea typeface="+mn-ea"/>
                <a:cs typeface="+mn-cs"/>
              </a:rPr>
              <a:t>Sources: https://</a:t>
            </a:r>
            <a:r>
              <a:rPr lang="en-US" sz="1200" b="0" i="0" kern="1200" dirty="0" err="1">
                <a:solidFill>
                  <a:schemeClr val="tx1"/>
                </a:solidFill>
                <a:effectLst/>
                <a:latin typeface="+mn-lt"/>
                <a:ea typeface="+mn-ea"/>
                <a:cs typeface="+mn-cs"/>
              </a:rPr>
              <a:t>strandsagents.com</a:t>
            </a:r>
            <a:r>
              <a:rPr lang="en-US" sz="1200" b="0" i="0" kern="1200" dirty="0">
                <a:solidFill>
                  <a:schemeClr val="tx1"/>
                </a:solidFill>
                <a:effectLst/>
                <a:latin typeface="+mn-lt"/>
                <a:ea typeface="+mn-ea"/>
                <a:cs typeface="+mn-cs"/>
              </a:rPr>
              <a:t>/docs/user-guide/harness/</a:t>
            </a:r>
            <a:r>
              <a:rPr lang="en-US" sz="1200" b="0" i="0" kern="1200" dirty="0" err="1">
                <a:solidFill>
                  <a:schemeClr val="tx1"/>
                </a:solidFill>
                <a:effectLst/>
                <a:latin typeface="+mn-lt"/>
                <a:ea typeface="+mn-ea"/>
                <a:cs typeface="+mn-cs"/>
              </a:rPr>
              <a:t>quickstart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https://</a:t>
            </a:r>
            <a:r>
              <a:rPr lang="en-US" sz="1200" b="0" i="0" kern="1200" dirty="0" err="1">
                <a:solidFill>
                  <a:schemeClr val="tx1"/>
                </a:solidFill>
                <a:effectLst/>
                <a:latin typeface="+mn-lt"/>
                <a:ea typeface="+mn-ea"/>
                <a:cs typeface="+mn-cs"/>
              </a:rPr>
              <a:t>builder.aws.com</a:t>
            </a:r>
            <a:r>
              <a:rPr lang="en-US" sz="1200" b="0" i="0" kern="1200" dirty="0">
                <a:solidFill>
                  <a:schemeClr val="tx1"/>
                </a:solidFill>
                <a:effectLst/>
                <a:latin typeface="+mn-lt"/>
                <a:ea typeface="+mn-ea"/>
                <a:cs typeface="+mn-cs"/>
              </a:rPr>
              <a:t>/content/3JgWF0T6PorfoRq7EdgkwO3F96P/stop-starting-from-scratch-build-agents-with-strands-harness</a:t>
            </a:r>
            <a:endParaRPr lang="en-US" dirty="0"/>
          </a:p>
        </p:txBody>
      </p:sp>
    </p:spTree>
    <p:extLst>
      <p:ext uri="{BB962C8B-B14F-4D97-AF65-F5344CB8AC3E}">
        <p14:creationId xmlns:p14="http://schemas.microsoft.com/office/powerpoint/2010/main" val="3939630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Code and references:</a:t>
            </a:r>
          </a:p>
          <a:p>
            <a:r>
              <a:rPr lang="en-US" dirty="0"/>
              <a:t>https://</a:t>
            </a:r>
            <a:r>
              <a:rPr lang="en-US" dirty="0" err="1"/>
              <a:t>builder.aws.com</a:t>
            </a:r>
            <a:r>
              <a:rPr lang="en-US" dirty="0"/>
              <a:t>/content/3J36U47bvNh8qnt6KgNPUVP08q1/quit-tokenmaxxing-4-tips-for-context-engineering-with-code-samples</a:t>
            </a:r>
          </a:p>
          <a:p>
            <a:r>
              <a:rPr lang="en-US" dirty="0"/>
              <a:t>https://</a:t>
            </a:r>
            <a:r>
              <a:rPr lang="en-US" dirty="0" err="1"/>
              <a:t>builder.aws.com</a:t>
            </a:r>
            <a:r>
              <a:rPr lang="en-US" dirty="0"/>
              <a:t>/content/3JgWF0T6PorfoRq7EdgkwO3F96P/stop-starting-from-scratch-build-agents-with-strands-harness</a:t>
            </a:r>
          </a:p>
          <a:p>
            <a:r>
              <a:rPr lang="en-US" dirty="0"/>
              <a:t>https://</a:t>
            </a:r>
            <a:r>
              <a:rPr lang="en-US" dirty="0" err="1"/>
              <a:t>strandsagents.com</a:t>
            </a:r>
            <a:r>
              <a:rPr lang="en-US" dirty="0"/>
              <a:t>/docs/user-guide/</a:t>
            </a:r>
            <a:r>
              <a:rPr lang="en-US" dirty="0" err="1"/>
              <a:t>sdk</a:t>
            </a:r>
            <a:r>
              <a:rPr lang="en-US" dirty="0"/>
              <a:t>/context-management/</a:t>
            </a:r>
          </a:p>
          <a:p>
            <a:r>
              <a:rPr lang="en-US" dirty="0"/>
              <a:t>https://</a:t>
            </a:r>
            <a:r>
              <a:rPr lang="en-US" dirty="0" err="1"/>
              <a:t>strandsagents.com</a:t>
            </a:r>
            <a:r>
              <a:rPr lang="en-US" dirty="0"/>
              <a:t>/docs/user-guide/harness/</a:t>
            </a:r>
            <a:r>
              <a:rPr lang="en-US" dirty="0" err="1"/>
              <a:t>quickstart</a:t>
            </a:r>
            <a:r>
              <a:rPr lang="en-US" dirty="0"/>
              <a:t>/</a:t>
            </a:r>
          </a:p>
        </p:txBody>
      </p:sp>
    </p:spTree>
    <p:extLst>
      <p:ext uri="{BB962C8B-B14F-4D97-AF65-F5344CB8AC3E}">
        <p14:creationId xmlns:p14="http://schemas.microsoft.com/office/powerpoint/2010/main" val="2984597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Agenda Slid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9356ED-54C0-AD03-2028-FEFC88C137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457200" y="1285875"/>
            <a:ext cx="8229600" cy="2469907"/>
          </a:xfrm>
        </p:spPr>
        <p:txBody>
          <a:bodyPr/>
          <a:lstStyle>
            <a:lvl1pPr marL="0" indent="0">
              <a:spcAft>
                <a:spcPts val="2250"/>
              </a:spcAft>
              <a:buNone/>
              <a:defRPr sz="1800" b="0" i="0">
                <a:latin typeface="Amazon Ember Display" panose="020F0603020204020204" pitchFamily="34" charset="0"/>
              </a:defRPr>
            </a:lvl1pPr>
            <a:lvl2pPr marL="0" indent="0">
              <a:spcAft>
                <a:spcPts val="2250"/>
              </a:spcAft>
              <a:buNone/>
              <a:defRPr sz="1800" b="0" i="0">
                <a:latin typeface="Amazon Ember Display" panose="020F0603020204020204" pitchFamily="34" charset="0"/>
              </a:defRPr>
            </a:lvl2pPr>
            <a:lvl3pPr marL="0" indent="0">
              <a:spcAft>
                <a:spcPts val="2250"/>
              </a:spcAft>
              <a:buNone/>
              <a:defRPr sz="1800" b="0" i="0">
                <a:latin typeface="Amazon Ember Display" panose="020F0603020204020204" pitchFamily="34" charset="0"/>
              </a:defRPr>
            </a:lvl3pPr>
            <a:lvl4pPr marL="0" indent="0">
              <a:spcAft>
                <a:spcPts val="2250"/>
              </a:spcAft>
              <a:buNone/>
              <a:defRPr sz="1800" b="0" i="0">
                <a:latin typeface="Amazon Ember Display" panose="020F0603020204020204" pitchFamily="34" charset="0"/>
              </a:defRPr>
            </a:lvl4pPr>
            <a:lvl5pPr marL="0" indent="0">
              <a:spcAft>
                <a:spcPts val="2250"/>
              </a:spcAft>
              <a:buNone/>
              <a:defRPr sz="1800" b="0" i="0">
                <a:latin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10/1/26</a:t>
            </a:fld>
            <a:endParaRPr lang="en-US" dirty="0"/>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dirty="0"/>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
        <p:nvSpPr>
          <p:cNvPr id="2" name="Title 1">
            <a:extLst>
              <a:ext uri="{FF2B5EF4-FFF2-40B4-BE49-F238E27FC236}">
                <a16:creationId xmlns:a16="http://schemas.microsoft.com/office/drawing/2014/main" id="{E9F3380B-4C2C-4CFA-5735-2689C62E6B51}"/>
              </a:ext>
            </a:extLst>
          </p:cNvPr>
          <p:cNvSpPr>
            <a:spLocks noGrp="1"/>
          </p:cNvSpPr>
          <p:nvPr>
            <p:ph type="title" hasCustomPrompt="1"/>
          </p:nvPr>
        </p:nvSpPr>
        <p:spPr>
          <a:xfrm>
            <a:off x="394032" y="685801"/>
            <a:ext cx="8229600" cy="443198"/>
          </a:xfrm>
          <a:prstGeom prst="rect">
            <a:avLst/>
          </a:prstGeom>
        </p:spPr>
        <p:txBody>
          <a:bodyPr/>
          <a:lstStyle>
            <a:lvl1pPr>
              <a:defRPr sz="27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Agenda layout</a:t>
            </a:r>
          </a:p>
        </p:txBody>
      </p:sp>
    </p:spTree>
    <p:extLst>
      <p:ext uri="{BB962C8B-B14F-4D97-AF65-F5344CB8AC3E}">
        <p14:creationId xmlns:p14="http://schemas.microsoft.com/office/powerpoint/2010/main" val="100687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Slide 1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D603374-8180-8E01-BA18-DE11A6BC29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457198" y="3275123"/>
            <a:ext cx="4845749" cy="401648"/>
          </a:xfrm>
        </p:spPr>
        <p:txBody>
          <a:bodyPr wrap="square"/>
          <a:lstStyle>
            <a:lvl1pPr marL="0" indent="0" algn="l">
              <a:spcAft>
                <a:spcPts val="0"/>
              </a:spcAft>
              <a:buFont typeface="Arial" panose="020B0604020202020204" pitchFamily="34" charset="0"/>
              <a:buNone/>
              <a:defRPr sz="2400" b="0" i="0" cap="none" spc="0" baseline="0">
                <a:solidFill>
                  <a:schemeClr val="tx2"/>
                </a:solidFill>
                <a:latin typeface="Amazon Ember Display" panose="020F06030202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457198" y="3946486"/>
            <a:ext cx="2847977" cy="276999"/>
          </a:xfrm>
        </p:spPr>
        <p:txBody>
          <a:bodyPr wrap="square"/>
          <a:lstStyle>
            <a:lvl1pPr marL="0" indent="0">
              <a:spcAft>
                <a:spcPts val="0"/>
              </a:spcAft>
              <a:buNone/>
              <a:defRPr sz="1500" b="0" i="0" cap="none" spc="0" baseline="0">
                <a:solidFill>
                  <a:schemeClr val="tx2"/>
                </a:solidFill>
                <a:latin typeface="Amazon Ember Display" panose="020F0603020204020204" pitchFamily="34" charset="0"/>
              </a:defRPr>
            </a:lvl1pPr>
          </a:lstStyle>
          <a:p>
            <a:pPr lvl="0"/>
            <a:r>
              <a:rPr lang="en-US" dirty="0"/>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457198" y="249011"/>
            <a:ext cx="4857752" cy="173124"/>
          </a:xfrm>
        </p:spPr>
        <p:txBody>
          <a:bodyPr wrap="square"/>
          <a:lstStyle>
            <a:lvl1pPr marL="0" indent="0">
              <a:spcAft>
                <a:spcPts val="0"/>
              </a:spcAft>
              <a:buNone/>
              <a:defRPr sz="750" b="0" i="0" cap="all" spc="225"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457198" y="4256077"/>
            <a:ext cx="2847977" cy="401648"/>
          </a:xfrm>
        </p:spPr>
        <p:txBody>
          <a:bodyPr wrap="square"/>
          <a:lstStyle>
            <a:lvl1pPr marL="0" indent="0">
              <a:spcAft>
                <a:spcPts val="225"/>
              </a:spcAft>
              <a:buNone/>
              <a:defRPr sz="1200" b="0" i="0">
                <a:solidFill>
                  <a:schemeClr val="tx2"/>
                </a:solidFill>
                <a:latin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378358" y="4792360"/>
            <a:ext cx="2981907" cy="161583"/>
          </a:xfrm>
          <a:prstGeom prst="rect">
            <a:avLst/>
          </a:prstGeom>
          <a:noFill/>
        </p:spPr>
        <p:txBody>
          <a:bodyPr wrap="none" rtlCol="0">
            <a:spAutoFit/>
          </a:bodyPr>
          <a:lstStyle/>
          <a:p>
            <a:pPr algn="l"/>
            <a:r>
              <a:rPr lang="en-US" sz="450" b="0" i="0" dirty="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9" name="Picture 8">
            <a:extLst>
              <a:ext uri="{FF2B5EF4-FFF2-40B4-BE49-F238E27FC236}">
                <a16:creationId xmlns:a16="http://schemas.microsoft.com/office/drawing/2014/main" id="{F2065812-9ABB-8591-F3F0-CA1C02DB18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52014" y="4217210"/>
            <a:ext cx="734786" cy="440514"/>
          </a:xfrm>
          <a:prstGeom prst="rect">
            <a:avLst/>
          </a:prstGeom>
        </p:spPr>
      </p:pic>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357935" y="2563741"/>
            <a:ext cx="4845749" cy="692498"/>
          </a:xfrm>
          <a:prstGeom prst="rect">
            <a:avLst/>
          </a:prstGeom>
        </p:spPr>
        <p:txBody>
          <a:bodyPr wrap="square" anchor="t" anchorCtr="0"/>
          <a:lstStyle>
            <a:lvl1pPr algn="l">
              <a:defRPr sz="45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Enter title</a:t>
            </a:r>
          </a:p>
        </p:txBody>
      </p:sp>
    </p:spTree>
    <p:extLst>
      <p:ext uri="{BB962C8B-B14F-4D97-AF65-F5344CB8AC3E}">
        <p14:creationId xmlns:p14="http://schemas.microsoft.com/office/powerpoint/2010/main" val="197611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Gradient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0C3FBB-5E23-AF69-9744-2F6B8EFD3C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457200" y="685801"/>
            <a:ext cx="8229600" cy="443198"/>
          </a:xfrm>
          <a:prstGeom prst="rect">
            <a:avLst/>
          </a:prstGeom>
        </p:spPr>
        <p:txBody>
          <a:bodyPr/>
          <a:lstStyle>
            <a:lvl1pPr>
              <a:defRPr sz="27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10/1/26</a:t>
            </a:fld>
            <a:endParaRPr lang="en-US" dirty="0"/>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471" y="4753502"/>
            <a:ext cx="274320" cy="164067"/>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6471" y="4753502"/>
            <a:ext cx="274320" cy="164286"/>
          </a:xfrm>
          <a:prstGeom prst="rect">
            <a:avLst/>
          </a:prstGeom>
        </p:spPr>
      </p:pic>
      <p:sp>
        <p:nvSpPr>
          <p:cNvPr id="3" name="TextBox 2">
            <a:extLst>
              <a:ext uri="{FF2B5EF4-FFF2-40B4-BE49-F238E27FC236}">
                <a16:creationId xmlns:a16="http://schemas.microsoft.com/office/drawing/2014/main" id="{F9F4A711-3A53-0556-7C8C-BBE097FED1A5}"/>
              </a:ext>
            </a:extLst>
          </p:cNvPr>
          <p:cNvSpPr txBox="1"/>
          <p:nvPr userDrawn="1"/>
        </p:nvSpPr>
        <p:spPr>
          <a:xfrm>
            <a:off x="855814" y="4792360"/>
            <a:ext cx="2981907" cy="161583"/>
          </a:xfrm>
          <a:prstGeom prst="rect">
            <a:avLst/>
          </a:prstGeom>
          <a:noFill/>
        </p:spPr>
        <p:txBody>
          <a:bodyPr wrap="none" rtlCol="0">
            <a:spAutoFit/>
          </a:bodyPr>
          <a:lstStyle/>
          <a:p>
            <a:pPr algn="l"/>
            <a:r>
              <a:rPr lang="en-US" sz="450" b="0" i="0" dirty="0">
                <a:solidFill>
                  <a:schemeClr val="tx2"/>
                </a:solidFill>
                <a:latin typeface="Amazon Ember Display" panose="020F0603020204020204" pitchFamily="34" charset="0"/>
              </a:rPr>
              <a:t>© 2026, Amazon Web Services, Inc. or its affiliates. All rights reserved. Amazon Confidential and Trademark.</a:t>
            </a:r>
          </a:p>
        </p:txBody>
      </p:sp>
    </p:spTree>
    <p:extLst>
      <p:ext uri="{BB962C8B-B14F-4D97-AF65-F5344CB8AC3E}">
        <p14:creationId xmlns:p14="http://schemas.microsoft.com/office/powerpoint/2010/main" val="3424993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 Header Option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D43F54-D03F-0326-2168-E4B64C3257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457200" y="2038527"/>
            <a:ext cx="5867400" cy="1066446"/>
          </a:xfrm>
          <a:prstGeom prst="rect">
            <a:avLst/>
          </a:prstGeom>
        </p:spPr>
        <p:txBody>
          <a:bodyPr anchor="ctr" anchorCtr="0"/>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10/1/26</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855814" y="4792360"/>
            <a:ext cx="2981907" cy="161583"/>
          </a:xfrm>
          <a:prstGeom prst="rect">
            <a:avLst/>
          </a:prstGeom>
          <a:noFill/>
        </p:spPr>
        <p:txBody>
          <a:bodyPr wrap="none" rtlCol="0">
            <a:spAutoFit/>
          </a:bodyPr>
          <a:lstStyle/>
          <a:p>
            <a:pPr algn="l"/>
            <a:r>
              <a:rPr lang="en-US" sz="450" b="0" i="0" dirty="0">
                <a:solidFill>
                  <a:schemeClr val="tx2"/>
                </a:solidFill>
                <a:latin typeface="Amazon Ember Display" panose="020F0603020204020204" pitchFamily="34" charset="0"/>
              </a:rPr>
              <a:t>© 2026, Amazon Web Services, Inc. or its affiliates. All rights reserved. Amazon Confidential and Trademark.</a:t>
            </a:r>
          </a:p>
        </p:txBody>
      </p:sp>
      <p:pic>
        <p:nvPicPr>
          <p:cNvPr id="13" name="Picture 12">
            <a:extLst>
              <a:ext uri="{FF2B5EF4-FFF2-40B4-BE49-F238E27FC236}">
                <a16:creationId xmlns:a16="http://schemas.microsoft.com/office/drawing/2014/main" id="{64951714-F565-6DF2-258E-6733254008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6471" y="4753502"/>
            <a:ext cx="274320" cy="164286"/>
          </a:xfrm>
          <a:prstGeom prst="rect">
            <a:avLst/>
          </a:prstGeom>
        </p:spPr>
      </p:pic>
    </p:spTree>
    <p:extLst>
      <p:ext uri="{BB962C8B-B14F-4D97-AF65-F5344CB8AC3E}">
        <p14:creationId xmlns:p14="http://schemas.microsoft.com/office/powerpoint/2010/main" val="1034207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5.png"/><Relationship Id="rId7" Type="http://schemas.openxmlformats.org/officeDocument/2006/relationships/image" Target="../media/image8.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2.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9.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20.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6.png"/><Relationship Id="rId7" Type="http://schemas.openxmlformats.org/officeDocument/2006/relationships/image" Target="../media/image8.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2.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6.png"/><Relationship Id="rId7" Type="http://schemas.openxmlformats.org/officeDocument/2006/relationships/image" Target="../media/image8.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image" Target="../media/image12.png"/><Relationship Id="rId9"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A5F678-9706-0213-4D4E-F855104853CB}"/>
              </a:ext>
            </a:extLst>
          </p:cNvPr>
          <p:cNvSpPr>
            <a:spLocks noGrp="1"/>
          </p:cNvSpPr>
          <p:nvPr>
            <p:ph type="body" sz="quarter" idx="10"/>
          </p:nvPr>
        </p:nvSpPr>
        <p:spPr>
          <a:xfrm>
            <a:off x="457200" y="246888"/>
            <a:ext cx="4855464" cy="173736"/>
          </a:xfrm>
        </p:spPr>
        <p:txBody>
          <a:bodyPr/>
          <a:lstStyle/>
          <a:p>
            <a:endParaRPr lang="en-US" dirty="0"/>
          </a:p>
        </p:txBody>
      </p:sp>
      <p:sp>
        <p:nvSpPr>
          <p:cNvPr id="11" name="Subtitle 1">
            <a:extLst>
              <a:ext uri="{FF2B5EF4-FFF2-40B4-BE49-F238E27FC236}">
                <a16:creationId xmlns:a16="http://schemas.microsoft.com/office/drawing/2014/main" id="{40578371-57C5-D6F7-AEA8-0CDD7B6EC94C}"/>
              </a:ext>
            </a:extLst>
          </p:cNvPr>
          <p:cNvSpPr>
            <a:spLocks noGrp="1"/>
          </p:cNvSpPr>
          <p:nvPr>
            <p:ph type="subTitle" idx="1"/>
          </p:nvPr>
        </p:nvSpPr>
        <p:spPr>
          <a:xfrm>
            <a:off x="559815" y="1583904"/>
            <a:ext cx="8024369" cy="503914"/>
          </a:xfrm>
        </p:spPr>
        <p:txBody>
          <a:bodyPr/>
          <a:lstStyle/>
          <a:p>
            <a:pPr marL="0" indent="0" algn="ctr">
              <a:buNone/>
            </a:pPr>
            <a:r>
              <a:rPr sz="4400" dirty="0"/>
              <a:t>Context Engineering </a:t>
            </a:r>
            <a:r>
              <a:rPr lang="en-US" sz="4400" dirty="0"/>
              <a:t>Techniques </a:t>
            </a:r>
            <a:r>
              <a:rPr sz="4400" dirty="0"/>
              <a:t>for AI Agents</a:t>
            </a:r>
            <a:endParaRPr lang="en-US" sz="4400" dirty="0">
              <a:solidFill>
                <a:schemeClr val="tx1"/>
              </a:solidFill>
            </a:endParaRPr>
          </a:p>
        </p:txBody>
      </p:sp>
      <p:sp>
        <p:nvSpPr>
          <p:cNvPr id="12" name="Text Placeholder 2">
            <a:extLst>
              <a:ext uri="{FF2B5EF4-FFF2-40B4-BE49-F238E27FC236}">
                <a16:creationId xmlns:a16="http://schemas.microsoft.com/office/drawing/2014/main" id="{ADA946CF-D6F4-CA41-8220-DAA308517D58}"/>
              </a:ext>
            </a:extLst>
          </p:cNvPr>
          <p:cNvSpPr>
            <a:spLocks noGrp="1"/>
          </p:cNvSpPr>
          <p:nvPr>
            <p:ph type="body" sz="quarter" idx="11"/>
          </p:nvPr>
        </p:nvSpPr>
        <p:spPr>
          <a:xfrm>
            <a:off x="457200" y="3924206"/>
            <a:ext cx="2847977" cy="276999"/>
          </a:xfrm>
        </p:spPr>
        <p:txBody>
          <a:bodyPr/>
          <a:lstStyle/>
          <a:p>
            <a:r>
              <a:rPr lang="en-US" dirty="0"/>
              <a:t>Morgan Willis</a:t>
            </a:r>
          </a:p>
          <a:p>
            <a:r>
              <a:rPr dirty="0"/>
              <a:t>AWS</a:t>
            </a:r>
            <a:endParaRPr lang="en-US" dirty="0">
              <a:solidFill>
                <a:schemeClr val="tx1"/>
              </a:solidFill>
            </a:endParaRPr>
          </a:p>
        </p:txBody>
      </p:sp>
      <p:sp>
        <p:nvSpPr>
          <p:cNvPr id="3" name="Slide Number Placeholder 2">
            <a:extLst>
              <a:ext uri="{FF2B5EF4-FFF2-40B4-BE49-F238E27FC236}">
                <a16:creationId xmlns:a16="http://schemas.microsoft.com/office/drawing/2014/main" id="{7B072153-AB08-895D-F433-C27846C99900}"/>
              </a:ext>
            </a:extLst>
          </p:cNvPr>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620961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1388-1562-DC2D-0AE4-3A1225BCBC2A}"/>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A6B27FFD-47A5-A705-8EB9-BE7BBD1DA9AB}"/>
              </a:ext>
            </a:extLst>
          </p:cNvPr>
          <p:cNvSpPr/>
          <p:nvPr/>
        </p:nvSpPr>
        <p:spPr>
          <a:xfrm>
            <a:off x="731520" y="1567543"/>
            <a:ext cx="7680960" cy="731520"/>
          </a:xfrm>
          <a:prstGeom prst="rect">
            <a:avLst/>
          </a:prstGeom>
          <a:noFill/>
          <a:ln/>
        </p:spPr>
        <p:txBody>
          <a:bodyPr wrap="square" lIns="0" tIns="0" rIns="0" bIns="0" rtlCol="0" anchor="ctr"/>
          <a:lstStyle/>
          <a:p>
            <a:pPr marL="0" indent="0" algn="ctr">
              <a:buNone/>
            </a:pPr>
            <a:r>
              <a:rPr sz="3600" dirty="0"/>
              <a:t>4K → 32K → 128K → 1M → 2M tokens</a:t>
            </a:r>
            <a:endParaRPr lang="en-US" sz="3600" dirty="0"/>
          </a:p>
        </p:txBody>
      </p:sp>
      <p:sp>
        <p:nvSpPr>
          <p:cNvPr id="3" name="TextBox 2">
            <a:extLst>
              <a:ext uri="{FF2B5EF4-FFF2-40B4-BE49-F238E27FC236}">
                <a16:creationId xmlns:a16="http://schemas.microsoft.com/office/drawing/2014/main" id="{2CEB832A-8667-9012-A242-E6F89D426835}"/>
              </a:ext>
            </a:extLst>
          </p:cNvPr>
          <p:cNvSpPr txBox="1"/>
          <p:nvPr/>
        </p:nvSpPr>
        <p:spPr>
          <a:xfrm>
            <a:off x="1550820" y="2571750"/>
            <a:ext cx="6403035" cy="646331"/>
          </a:xfrm>
          <a:prstGeom prst="rect">
            <a:avLst/>
          </a:prstGeom>
          <a:noFill/>
        </p:spPr>
        <p:txBody>
          <a:bodyPr wrap="none" rtlCol="0">
            <a:spAutoFit/>
          </a:bodyPr>
          <a:lstStyle/>
          <a:p>
            <a:r>
              <a:rPr lang="en-US" sz="3600" dirty="0"/>
              <a:t>Just add more tokens, that’ll fix it</a:t>
            </a:r>
          </a:p>
        </p:txBody>
      </p:sp>
    </p:spTree>
    <p:extLst>
      <p:ext uri="{BB962C8B-B14F-4D97-AF65-F5344CB8AC3E}">
        <p14:creationId xmlns:p14="http://schemas.microsoft.com/office/powerpoint/2010/main" val="1456477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9702-592B-F4D0-301F-1ABE1B7B746A}"/>
            </a:ext>
          </a:extLst>
        </p:cNvPr>
        <p:cNvGrpSpPr/>
        <p:nvPr/>
      </p:nvGrpSpPr>
      <p:grpSpPr>
        <a:xfrm>
          <a:off x="0" y="0"/>
          <a:ext cx="0" cy="0"/>
          <a:chOff x="0" y="0"/>
          <a:chExt cx="0" cy="0"/>
        </a:xfrm>
      </p:grpSpPr>
      <p:sp>
        <p:nvSpPr>
          <p:cNvPr id="7" name="Title 3">
            <a:extLst>
              <a:ext uri="{FF2B5EF4-FFF2-40B4-BE49-F238E27FC236}">
                <a16:creationId xmlns:a16="http://schemas.microsoft.com/office/drawing/2014/main" id="{92B70763-FA2F-20AA-DCA7-9473602AD7D5}"/>
              </a:ext>
            </a:extLst>
          </p:cNvPr>
          <p:cNvSpPr txBox="1">
            <a:spLocks/>
          </p:cNvSpPr>
          <p:nvPr/>
        </p:nvSpPr>
        <p:spPr>
          <a:xfrm>
            <a:off x="457200" y="134007"/>
            <a:ext cx="8229600" cy="548640"/>
          </a:xfrm>
          <a:prstGeom prst="rect">
            <a:avLst/>
          </a:prstGeom>
        </p:spPr>
        <p:txBody>
          <a:bodyPr/>
          <a:lstStyle>
            <a:lvl1pPr algn="ctr" defTabSz="914400" rtl="0" eaLnBrk="1" latinLnBrk="0" hangingPunct="1">
              <a:spcBef>
                <a:spcPct val="0"/>
              </a:spcBef>
              <a:buNone/>
              <a:defRPr sz="27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Why It Doesn't Work</a:t>
            </a:r>
            <a:endParaRPr lang="en-US" sz="2400" dirty="0">
              <a:ea typeface="+mn-ea"/>
              <a:cs typeface="+mn-cs"/>
            </a:endParaRPr>
          </a:p>
        </p:txBody>
      </p:sp>
      <p:pic>
        <p:nvPicPr>
          <p:cNvPr id="2" name="Picture 1" descr="Updated graphic">
            <a:extLst>
              <a:ext uri="{FF2B5EF4-FFF2-40B4-BE49-F238E27FC236}">
                <a16:creationId xmlns:a16="http://schemas.microsoft.com/office/drawing/2014/main" id="{F4451ACA-B9D1-DD2D-7234-DC18BCF83F46}"/>
              </a:ext>
            </a:extLst>
          </p:cNvPr>
          <p:cNvPicPr>
            <a:picLocks noChangeAspect="1"/>
          </p:cNvPicPr>
          <p:nvPr/>
        </p:nvPicPr>
        <p:blipFill>
          <a:blip r:embed="rId3"/>
          <a:stretch>
            <a:fillRect/>
          </a:stretch>
        </p:blipFill>
        <p:spPr>
          <a:xfrm>
            <a:off x="197177" y="682647"/>
            <a:ext cx="8749646" cy="4227425"/>
          </a:xfrm>
          <a:prstGeom prst="rect">
            <a:avLst/>
          </a:prstGeom>
        </p:spPr>
      </p:pic>
    </p:spTree>
    <p:extLst>
      <p:ext uri="{BB962C8B-B14F-4D97-AF65-F5344CB8AC3E}">
        <p14:creationId xmlns:p14="http://schemas.microsoft.com/office/powerpoint/2010/main" val="338032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843E7-5779-5D4D-F79C-649777B59769}"/>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BF91FAE7-16C8-3CCD-F8F4-C7CECB5641B8}"/>
              </a:ext>
            </a:extLst>
          </p:cNvPr>
          <p:cNvSpPr/>
          <p:nvPr/>
        </p:nvSpPr>
        <p:spPr>
          <a:xfrm>
            <a:off x="662877" y="735878"/>
            <a:ext cx="7680960" cy="731520"/>
          </a:xfrm>
          <a:prstGeom prst="rect">
            <a:avLst/>
          </a:prstGeom>
          <a:noFill/>
          <a:ln/>
        </p:spPr>
        <p:txBody>
          <a:bodyPr wrap="square" lIns="0" tIns="0" rIns="0" bIns="0" rtlCol="0" anchor="ctr"/>
          <a:lstStyle/>
          <a:p>
            <a:pPr marL="0" indent="0" algn="ctr">
              <a:buNone/>
            </a:pPr>
            <a:r>
              <a:rPr sz="3600" dirty="0"/>
              <a:t>Context Engineering</a:t>
            </a:r>
            <a:endParaRPr lang="en-US" sz="3600" dirty="0"/>
          </a:p>
        </p:txBody>
      </p:sp>
      <p:sp>
        <p:nvSpPr>
          <p:cNvPr id="3" name="Text 2">
            <a:extLst>
              <a:ext uri="{FF2B5EF4-FFF2-40B4-BE49-F238E27FC236}">
                <a16:creationId xmlns:a16="http://schemas.microsoft.com/office/drawing/2014/main" id="{56139EDB-2BEA-6DE0-DC55-0890C5D9195B}"/>
              </a:ext>
            </a:extLst>
          </p:cNvPr>
          <p:cNvSpPr/>
          <p:nvPr/>
        </p:nvSpPr>
        <p:spPr>
          <a:xfrm>
            <a:off x="244990" y="2433382"/>
            <a:ext cx="8654020" cy="665313"/>
          </a:xfrm>
          <a:prstGeom prst="rect">
            <a:avLst/>
          </a:prstGeom>
          <a:noFill/>
          <a:ln/>
        </p:spPr>
        <p:txBody>
          <a:bodyPr wrap="square" lIns="0" tIns="0" rIns="0" bIns="0" rtlCol="0" anchor="ctr"/>
          <a:lstStyle/>
          <a:p>
            <a:pPr marL="0" indent="0" algn="ctr">
              <a:buNone/>
            </a:pPr>
            <a:r>
              <a:rPr lang="en-US" sz="2800" dirty="0"/>
              <a:t>Giving the model the information it needs when it needs it.</a:t>
            </a:r>
          </a:p>
          <a:p>
            <a:pPr marL="0" indent="0" algn="ctr">
              <a:buNone/>
            </a:pPr>
            <a:r>
              <a:rPr lang="en-US" sz="2800" dirty="0"/>
              <a:t> </a:t>
            </a:r>
            <a:br>
              <a:rPr lang="en-US" sz="2800" dirty="0"/>
            </a:br>
            <a:r>
              <a:rPr lang="en-US" sz="2800" dirty="0"/>
              <a:t>Curating the context window for optimal outcomes and token consumption.</a:t>
            </a:r>
          </a:p>
        </p:txBody>
      </p:sp>
    </p:spTree>
    <p:extLst>
      <p:ext uri="{BB962C8B-B14F-4D97-AF65-F5344CB8AC3E}">
        <p14:creationId xmlns:p14="http://schemas.microsoft.com/office/powerpoint/2010/main" val="95692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79A6A-B22D-4D73-529A-700764749929}"/>
            </a:ext>
          </a:extLst>
        </p:cNvPr>
        <p:cNvGrpSpPr/>
        <p:nvPr/>
      </p:nvGrpSpPr>
      <p:grpSpPr>
        <a:xfrm>
          <a:off x="0" y="0"/>
          <a:ext cx="0" cy="0"/>
          <a:chOff x="0" y="0"/>
          <a:chExt cx="0" cy="0"/>
        </a:xfrm>
      </p:grpSpPr>
      <p:pic>
        <p:nvPicPr>
          <p:cNvPr id="4" name="Graphic 3">
            <a:extLst>
              <a:ext uri="{FF2B5EF4-FFF2-40B4-BE49-F238E27FC236}">
                <a16:creationId xmlns:a16="http://schemas.microsoft.com/office/drawing/2014/main" id="{65C209D0-EB58-55BA-B314-F5E03D762D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7357" y="4637877"/>
            <a:ext cx="2388476" cy="341211"/>
          </a:xfrm>
          <a:prstGeom prst="rect">
            <a:avLst/>
          </a:prstGeom>
        </p:spPr>
      </p:pic>
      <p:pic>
        <p:nvPicPr>
          <p:cNvPr id="6" name="Graphic 5">
            <a:extLst>
              <a:ext uri="{FF2B5EF4-FFF2-40B4-BE49-F238E27FC236}">
                <a16:creationId xmlns:a16="http://schemas.microsoft.com/office/drawing/2014/main" id="{3F523EE1-746E-BB13-EFA3-3BAB165FDFA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38194" y="4602216"/>
            <a:ext cx="412531" cy="412531"/>
          </a:xfrm>
          <a:prstGeom prst="rect">
            <a:avLst/>
          </a:prstGeom>
        </p:spPr>
      </p:pic>
      <p:pic>
        <p:nvPicPr>
          <p:cNvPr id="11" name="Picture 10">
            <a:extLst>
              <a:ext uri="{FF2B5EF4-FFF2-40B4-BE49-F238E27FC236}">
                <a16:creationId xmlns:a16="http://schemas.microsoft.com/office/drawing/2014/main" id="{FD052041-8A89-F090-0288-F7643042955C}"/>
              </a:ext>
            </a:extLst>
          </p:cNvPr>
          <p:cNvPicPr>
            <a:picLocks noChangeAspect="1"/>
          </p:cNvPicPr>
          <p:nvPr/>
        </p:nvPicPr>
        <p:blipFill>
          <a:blip r:embed="rId5"/>
          <a:stretch>
            <a:fillRect/>
          </a:stretch>
        </p:blipFill>
        <p:spPr>
          <a:xfrm>
            <a:off x="619585" y="261707"/>
            <a:ext cx="7766239" cy="3931920"/>
          </a:xfrm>
          <a:prstGeom prst="rect">
            <a:avLst/>
          </a:prstGeom>
        </p:spPr>
      </p:pic>
    </p:spTree>
    <p:extLst>
      <p:ext uri="{BB962C8B-B14F-4D97-AF65-F5344CB8AC3E}">
        <p14:creationId xmlns:p14="http://schemas.microsoft.com/office/powerpoint/2010/main" val="3878365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2CE91-8889-5364-61C6-914E105E55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175BED-5D8F-7BB8-FC25-1E5A035AD568}"/>
              </a:ext>
            </a:extLst>
          </p:cNvPr>
          <p:cNvPicPr>
            <a:picLocks noChangeAspect="1"/>
          </p:cNvPicPr>
          <p:nvPr/>
        </p:nvPicPr>
        <p:blipFill>
          <a:blip r:embed="rId3"/>
          <a:stretch>
            <a:fillRect/>
          </a:stretch>
        </p:blipFill>
        <p:spPr>
          <a:xfrm>
            <a:off x="246647" y="564576"/>
            <a:ext cx="8954544" cy="4921823"/>
          </a:xfrm>
          <a:prstGeom prst="rect">
            <a:avLst/>
          </a:prstGeom>
        </p:spPr>
      </p:pic>
      <p:sp>
        <p:nvSpPr>
          <p:cNvPr id="3" name="Text 1">
            <a:extLst>
              <a:ext uri="{FF2B5EF4-FFF2-40B4-BE49-F238E27FC236}">
                <a16:creationId xmlns:a16="http://schemas.microsoft.com/office/drawing/2014/main" id="{C60B7214-8BB2-91E4-9C6F-C5A9FEA5F7F1}"/>
              </a:ext>
            </a:extLst>
          </p:cNvPr>
          <p:cNvSpPr/>
          <p:nvPr/>
        </p:nvSpPr>
        <p:spPr>
          <a:xfrm>
            <a:off x="654994" y="-84423"/>
            <a:ext cx="7680960" cy="731520"/>
          </a:xfrm>
          <a:prstGeom prst="rect">
            <a:avLst/>
          </a:prstGeom>
          <a:noFill/>
          <a:ln/>
        </p:spPr>
        <p:txBody>
          <a:bodyPr wrap="square" lIns="0" tIns="0" rIns="0" bIns="0" rtlCol="0" anchor="ctr"/>
          <a:lstStyle/>
          <a:p>
            <a:pPr marL="0" indent="0" algn="ctr">
              <a:buNone/>
            </a:pPr>
            <a:r>
              <a:rPr sz="3600" dirty="0"/>
              <a:t>Context Engineering</a:t>
            </a:r>
            <a:r>
              <a:rPr lang="en-US" sz="3600" dirty="0"/>
              <a:t> Strategies</a:t>
            </a:r>
          </a:p>
        </p:txBody>
      </p:sp>
    </p:spTree>
    <p:extLst>
      <p:ext uri="{BB962C8B-B14F-4D97-AF65-F5344CB8AC3E}">
        <p14:creationId xmlns:p14="http://schemas.microsoft.com/office/powerpoint/2010/main" val="362494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descr="Generated image: Message management strategies infographic">
            <a:extLst>
              <a:ext uri="{FF2B5EF4-FFF2-40B4-BE49-F238E27FC236}">
                <a16:creationId xmlns:a16="http://schemas.microsoft.com/office/drawing/2014/main" id="{219652E0-5669-FEB0-334B-D56C00F0F7C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itle 2">
            <a:extLst>
              <a:ext uri="{FF2B5EF4-FFF2-40B4-BE49-F238E27FC236}">
                <a16:creationId xmlns:a16="http://schemas.microsoft.com/office/drawing/2014/main" id="{DF694714-B0CC-AE2F-A9DB-EC132B36EECA}"/>
              </a:ext>
            </a:extLst>
          </p:cNvPr>
          <p:cNvSpPr>
            <a:spLocks noGrp="1"/>
          </p:cNvSpPr>
          <p:nvPr>
            <p:ph type="title"/>
          </p:nvPr>
        </p:nvSpPr>
        <p:spPr>
          <a:xfrm>
            <a:off x="457200" y="261799"/>
            <a:ext cx="8229600" cy="443198"/>
          </a:xfrm>
        </p:spPr>
        <p:txBody>
          <a:bodyPr/>
          <a:lstStyle/>
          <a:p>
            <a:r>
              <a:rPr lang="en-US" dirty="0"/>
              <a:t>The Starting Point:</a:t>
            </a:r>
            <a:br>
              <a:rPr lang="en-US" dirty="0"/>
            </a:br>
            <a:r>
              <a:rPr lang="en-US" dirty="0"/>
              <a:t>Conversation Management</a:t>
            </a:r>
          </a:p>
        </p:txBody>
      </p:sp>
      <p:pic>
        <p:nvPicPr>
          <p:cNvPr id="16" name="Picture 15">
            <a:extLst>
              <a:ext uri="{FF2B5EF4-FFF2-40B4-BE49-F238E27FC236}">
                <a16:creationId xmlns:a16="http://schemas.microsoft.com/office/drawing/2014/main" id="{CDD94586-59FB-8A58-A46F-33D8C34C3E94}"/>
              </a:ext>
            </a:extLst>
          </p:cNvPr>
          <p:cNvPicPr>
            <a:picLocks noChangeAspect="1"/>
          </p:cNvPicPr>
          <p:nvPr/>
        </p:nvPicPr>
        <p:blipFill>
          <a:blip r:embed="rId3"/>
          <a:stretch>
            <a:fillRect/>
          </a:stretch>
        </p:blipFill>
        <p:spPr>
          <a:xfrm>
            <a:off x="7863119" y="108392"/>
            <a:ext cx="1227982" cy="863096"/>
          </a:xfrm>
          <a:prstGeom prst="rect">
            <a:avLst/>
          </a:prstGeom>
        </p:spPr>
      </p:pic>
      <p:pic>
        <p:nvPicPr>
          <p:cNvPr id="2" name="Picture 1" descr="Updated diagram">
            <a:extLst>
              <a:ext uri="{FF2B5EF4-FFF2-40B4-BE49-F238E27FC236}">
                <a16:creationId xmlns:a16="http://schemas.microsoft.com/office/drawing/2014/main" id="{17265260-AA11-6553-52BF-F0D28A12614B}"/>
              </a:ext>
            </a:extLst>
          </p:cNvPr>
          <p:cNvPicPr>
            <a:picLocks noChangeAspect="1"/>
          </p:cNvPicPr>
          <p:nvPr/>
        </p:nvPicPr>
        <p:blipFill>
          <a:blip r:embed="rId4"/>
          <a:stretch>
            <a:fillRect/>
          </a:stretch>
        </p:blipFill>
        <p:spPr>
          <a:xfrm>
            <a:off x="179769" y="1300162"/>
            <a:ext cx="8911332" cy="3453141"/>
          </a:xfrm>
          <a:prstGeom prst="rect">
            <a:avLst/>
          </a:prstGeom>
        </p:spPr>
      </p:pic>
    </p:spTree>
    <p:extLst>
      <p:ext uri="{BB962C8B-B14F-4D97-AF65-F5344CB8AC3E}">
        <p14:creationId xmlns:p14="http://schemas.microsoft.com/office/powerpoint/2010/main" val="62678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26B4D-81C6-F6C6-2905-BF221D587B3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2E9C96D-91E3-8E8A-C6EA-0281028CBD89}"/>
              </a:ext>
            </a:extLst>
          </p:cNvPr>
          <p:cNvPicPr>
            <a:picLocks noChangeAspect="1"/>
          </p:cNvPicPr>
          <p:nvPr/>
        </p:nvPicPr>
        <p:blipFill>
          <a:blip r:embed="rId3"/>
          <a:stretch>
            <a:fillRect/>
          </a:stretch>
        </p:blipFill>
        <p:spPr>
          <a:xfrm>
            <a:off x="7916018" y="201044"/>
            <a:ext cx="1227982" cy="863096"/>
          </a:xfrm>
          <a:prstGeom prst="rect">
            <a:avLst/>
          </a:prstGeom>
        </p:spPr>
      </p:pic>
      <p:pic>
        <p:nvPicPr>
          <p:cNvPr id="11" name="Picture 10">
            <a:extLst>
              <a:ext uri="{FF2B5EF4-FFF2-40B4-BE49-F238E27FC236}">
                <a16:creationId xmlns:a16="http://schemas.microsoft.com/office/drawing/2014/main" id="{30072A14-0441-8878-9514-ECAFA512DDC8}"/>
              </a:ext>
            </a:extLst>
          </p:cNvPr>
          <p:cNvPicPr>
            <a:picLocks noChangeAspect="1"/>
          </p:cNvPicPr>
          <p:nvPr/>
        </p:nvPicPr>
        <p:blipFill>
          <a:blip r:embed="rId4"/>
          <a:stretch>
            <a:fillRect/>
          </a:stretch>
        </p:blipFill>
        <p:spPr>
          <a:xfrm>
            <a:off x="376796" y="89863"/>
            <a:ext cx="6286101" cy="4616143"/>
          </a:xfrm>
          <a:prstGeom prst="rect">
            <a:avLst/>
          </a:prstGeom>
          <a:effectLst/>
        </p:spPr>
      </p:pic>
      <p:pic>
        <p:nvPicPr>
          <p:cNvPr id="16" name="Graphic 15">
            <a:extLst>
              <a:ext uri="{FF2B5EF4-FFF2-40B4-BE49-F238E27FC236}">
                <a16:creationId xmlns:a16="http://schemas.microsoft.com/office/drawing/2014/main" id="{00C2520E-0F25-69AE-DC23-00F4ADFBCA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7357" y="4637877"/>
            <a:ext cx="2388476" cy="341211"/>
          </a:xfrm>
          <a:prstGeom prst="rect">
            <a:avLst/>
          </a:prstGeom>
        </p:spPr>
      </p:pic>
      <p:pic>
        <p:nvPicPr>
          <p:cNvPr id="18" name="Graphic 17">
            <a:extLst>
              <a:ext uri="{FF2B5EF4-FFF2-40B4-BE49-F238E27FC236}">
                <a16:creationId xmlns:a16="http://schemas.microsoft.com/office/drawing/2014/main" id="{E9EA6830-60BA-3618-9716-1B1DD4C292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38194" y="4602216"/>
            <a:ext cx="412531" cy="412531"/>
          </a:xfrm>
          <a:prstGeom prst="rect">
            <a:avLst/>
          </a:prstGeom>
        </p:spPr>
      </p:pic>
    </p:spTree>
    <p:extLst>
      <p:ext uri="{BB962C8B-B14F-4D97-AF65-F5344CB8AC3E}">
        <p14:creationId xmlns:p14="http://schemas.microsoft.com/office/powerpoint/2010/main" val="1122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9B36D-E755-C438-98D3-099CD5A382B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88C99359-7445-3B0C-413E-4F3948CF063A}"/>
              </a:ext>
            </a:extLst>
          </p:cNvPr>
          <p:cNvSpPr>
            <a:spLocks noGrp="1"/>
          </p:cNvSpPr>
          <p:nvPr>
            <p:ph type="title"/>
          </p:nvPr>
        </p:nvSpPr>
        <p:spPr>
          <a:xfrm>
            <a:off x="394032" y="386049"/>
            <a:ext cx="8229600" cy="443198"/>
          </a:xfrm>
        </p:spPr>
        <p:txBody>
          <a:bodyPr/>
          <a:lstStyle/>
          <a:p>
            <a:r>
              <a:rPr lang="en-US" dirty="0">
                <a:solidFill>
                  <a:schemeClr val="tx1"/>
                </a:solidFill>
              </a:rPr>
              <a:t>Tiered Memory</a:t>
            </a:r>
          </a:p>
        </p:txBody>
      </p:sp>
      <p:sp>
        <p:nvSpPr>
          <p:cNvPr id="7" name="Shape 3">
            <a:extLst>
              <a:ext uri="{FF2B5EF4-FFF2-40B4-BE49-F238E27FC236}">
                <a16:creationId xmlns:a16="http://schemas.microsoft.com/office/drawing/2014/main" id="{A24EF0E1-55FB-4EA0-953C-322AA5B24A43}"/>
              </a:ext>
            </a:extLst>
          </p:cNvPr>
          <p:cNvSpPr>
            <a:spLocks noGrp="1"/>
          </p:cNvSpPr>
          <p:nvPr>
            <p:ph type="body" sz="quarter" idx="10"/>
          </p:nvPr>
        </p:nvSpPr>
        <p:spPr>
          <a:xfrm>
            <a:off x="478910" y="960216"/>
            <a:ext cx="2442754" cy="676656"/>
          </a:xfrm>
          <a:prstGeom prst="rect">
            <a:avLst/>
          </a:prstGeom>
          <a:solidFill>
            <a:schemeClr val="bg2"/>
          </a:solidFill>
          <a:ln/>
          <a:effectLst>
            <a:outerShdw blurRad="101600" dist="38100" dir="8100000" algn="bl" rotWithShape="0">
              <a:srgbClr val="000000">
                <a:alpha val="35000"/>
              </a:srgbClr>
            </a:outerShdw>
          </a:effectLst>
        </p:spPr>
        <p:txBody>
          <a:bodyPr/>
          <a:lstStyle/>
          <a:p>
            <a:r>
              <a:rPr lang="en-US" sz="2000" dirty="0">
                <a:latin typeface="Amazon Ember" panose="020B0603020204020204" pitchFamily="34" charset="0"/>
                <a:ea typeface="Amazon Ember" panose="020B0603020204020204" pitchFamily="34" charset="0"/>
                <a:cs typeface="Amazon Ember" panose="020B0603020204020204" pitchFamily="34" charset="0"/>
              </a:rPr>
              <a:t>Short-term memory</a:t>
            </a:r>
            <a:endParaRPr lang="en-US" sz="2000" dirty="0"/>
          </a:p>
        </p:txBody>
      </p:sp>
      <p:sp>
        <p:nvSpPr>
          <p:cNvPr id="8" name="Shape 3">
            <a:extLst>
              <a:ext uri="{FF2B5EF4-FFF2-40B4-BE49-F238E27FC236}">
                <a16:creationId xmlns:a16="http://schemas.microsoft.com/office/drawing/2014/main" id="{DFA105BC-A00F-256B-6788-478DAF793E79}"/>
              </a:ext>
            </a:extLst>
          </p:cNvPr>
          <p:cNvSpPr txBox="1">
            <a:spLocks/>
          </p:cNvSpPr>
          <p:nvPr/>
        </p:nvSpPr>
        <p:spPr>
          <a:xfrm>
            <a:off x="478910" y="1849373"/>
            <a:ext cx="2442754" cy="2804923"/>
          </a:xfrm>
          <a:prstGeom prst="rect">
            <a:avLst/>
          </a:prstGeom>
          <a:solidFill>
            <a:schemeClr val="bg2"/>
          </a:solidFill>
          <a:ln/>
          <a:effectLst>
            <a:outerShdw blurRad="101600" dist="38100" dir="8100000" algn="bl" rotWithShape="0">
              <a:srgbClr val="000000">
                <a:alpha val="35000"/>
              </a:srgbClr>
            </a:outerShdw>
          </a:effectLst>
        </p:spPr>
        <p:txBody>
          <a:bodyPr/>
          <a:lstStyle>
            <a:lvl1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1pPr>
            <a:lvl2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2pPr>
            <a:lvl3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3pPr>
            <a:lvl4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4pPr>
            <a:lvl5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Recent conversation history</a:t>
            </a:r>
          </a:p>
          <a:p>
            <a:pPr marL="285750" indent="-285750">
              <a:buFont typeface="Arial" panose="020B0604020202020204" pitchFamily="34" charset="0"/>
              <a:buChar char="•"/>
            </a:pPr>
            <a:r>
              <a:rPr lang="en-US" dirty="0"/>
              <a:t>Last k-turns always returned</a:t>
            </a:r>
          </a:p>
          <a:p>
            <a:pPr marL="285750" indent="-285750">
              <a:buFont typeface="Arial" panose="020B0604020202020204" pitchFamily="34" charset="0"/>
              <a:buChar char="•"/>
            </a:pPr>
            <a:r>
              <a:rPr lang="en-US" dirty="0"/>
              <a:t>Sliding window + summarization</a:t>
            </a:r>
          </a:p>
        </p:txBody>
      </p:sp>
      <p:sp>
        <p:nvSpPr>
          <p:cNvPr id="9" name="Shape 3">
            <a:extLst>
              <a:ext uri="{FF2B5EF4-FFF2-40B4-BE49-F238E27FC236}">
                <a16:creationId xmlns:a16="http://schemas.microsoft.com/office/drawing/2014/main" id="{F706081F-DFF0-8FBE-8791-3F49AEBC63A9}"/>
              </a:ext>
            </a:extLst>
          </p:cNvPr>
          <p:cNvSpPr txBox="1">
            <a:spLocks/>
          </p:cNvSpPr>
          <p:nvPr/>
        </p:nvSpPr>
        <p:spPr>
          <a:xfrm>
            <a:off x="3287455" y="960216"/>
            <a:ext cx="2505922" cy="717422"/>
          </a:xfrm>
          <a:prstGeom prst="rect">
            <a:avLst/>
          </a:prstGeom>
          <a:solidFill>
            <a:schemeClr val="bg2"/>
          </a:solidFill>
          <a:ln/>
          <a:effectLst>
            <a:outerShdw blurRad="101600" dist="38100" dir="8100000" algn="bl" rotWithShape="0">
              <a:srgbClr val="000000">
                <a:alpha val="35000"/>
              </a:srgbClr>
            </a:outerShdw>
          </a:effectLst>
        </p:spPr>
        <p:txBody>
          <a:bodyPr/>
          <a:lstStyle>
            <a:lvl1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1pPr>
            <a:lvl2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2pPr>
            <a:lvl3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3pPr>
            <a:lvl4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4pPr>
            <a:lvl5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Long-term memory</a:t>
            </a:r>
            <a:endParaRPr lang="en-US" sz="2000" dirty="0"/>
          </a:p>
        </p:txBody>
      </p:sp>
      <p:sp>
        <p:nvSpPr>
          <p:cNvPr id="10" name="Shape 3">
            <a:extLst>
              <a:ext uri="{FF2B5EF4-FFF2-40B4-BE49-F238E27FC236}">
                <a16:creationId xmlns:a16="http://schemas.microsoft.com/office/drawing/2014/main" id="{A99B292E-C9A3-1D7D-560D-B89793EFA346}"/>
              </a:ext>
            </a:extLst>
          </p:cNvPr>
          <p:cNvSpPr txBox="1">
            <a:spLocks/>
          </p:cNvSpPr>
          <p:nvPr/>
        </p:nvSpPr>
        <p:spPr>
          <a:xfrm>
            <a:off x="3350623" y="1849372"/>
            <a:ext cx="2442754" cy="2804923"/>
          </a:xfrm>
          <a:prstGeom prst="rect">
            <a:avLst/>
          </a:prstGeom>
          <a:solidFill>
            <a:schemeClr val="bg2"/>
          </a:solidFill>
          <a:ln/>
          <a:effectLst>
            <a:outerShdw blurRad="101600" dist="38100" dir="8100000" algn="bl" rotWithShape="0">
              <a:srgbClr val="000000">
                <a:alpha val="35000"/>
              </a:srgbClr>
            </a:outerShdw>
          </a:effectLst>
        </p:spPr>
        <p:txBody>
          <a:bodyPr/>
          <a:lstStyle>
            <a:lvl1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1pPr>
            <a:lvl2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2pPr>
            <a:lvl3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3pPr>
            <a:lvl4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4pPr>
            <a:lvl5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Extracted from conversation history </a:t>
            </a:r>
          </a:p>
          <a:p>
            <a:pPr marL="285750" indent="-285750">
              <a:buFont typeface="Arial" panose="020B0604020202020204" pitchFamily="34" charset="0"/>
              <a:buChar char="•"/>
            </a:pPr>
            <a:r>
              <a:rPr lang="en-US" dirty="0"/>
              <a:t>Clean facts &gt; raw conversation</a:t>
            </a:r>
          </a:p>
          <a:p>
            <a:pPr marL="285750" indent="-285750">
              <a:buFont typeface="Arial" panose="020B0604020202020204" pitchFamily="34" charset="0"/>
              <a:buChar char="•"/>
            </a:pPr>
            <a:r>
              <a:rPr lang="en-US" dirty="0"/>
              <a:t>Scored retrieval</a:t>
            </a:r>
          </a:p>
          <a:p>
            <a:pPr marL="285750" indent="-285750">
              <a:buFont typeface="Arial" panose="020B0604020202020204" pitchFamily="34" charset="0"/>
              <a:buChar char="•"/>
            </a:pPr>
            <a:endParaRPr lang="en-US" dirty="0"/>
          </a:p>
          <a:p>
            <a:endParaRPr lang="en-US" sz="1600" dirty="0"/>
          </a:p>
        </p:txBody>
      </p:sp>
      <p:sp>
        <p:nvSpPr>
          <p:cNvPr id="11" name="Shape 3">
            <a:extLst>
              <a:ext uri="{FF2B5EF4-FFF2-40B4-BE49-F238E27FC236}">
                <a16:creationId xmlns:a16="http://schemas.microsoft.com/office/drawing/2014/main" id="{346570CA-939C-8226-0D1D-CA08FD8288AC}"/>
              </a:ext>
            </a:extLst>
          </p:cNvPr>
          <p:cNvSpPr txBox="1">
            <a:spLocks/>
          </p:cNvSpPr>
          <p:nvPr/>
        </p:nvSpPr>
        <p:spPr>
          <a:xfrm>
            <a:off x="6096000" y="1000981"/>
            <a:ext cx="2442754" cy="676656"/>
          </a:xfrm>
          <a:prstGeom prst="rect">
            <a:avLst/>
          </a:prstGeom>
          <a:solidFill>
            <a:schemeClr val="bg2"/>
          </a:solidFill>
          <a:ln/>
          <a:effectLst>
            <a:outerShdw blurRad="101600" dist="38100" dir="8100000" algn="bl" rotWithShape="0">
              <a:srgbClr val="000000">
                <a:alpha val="35000"/>
              </a:srgbClr>
            </a:outerShdw>
          </a:effectLst>
        </p:spPr>
        <p:txBody>
          <a:bodyPr/>
          <a:lstStyle>
            <a:lvl1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1pPr>
            <a:lvl2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2pPr>
            <a:lvl3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3pPr>
            <a:lvl4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4pPr>
            <a:lvl5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2000" dirty="0"/>
              <a:t>Relational memory</a:t>
            </a:r>
          </a:p>
        </p:txBody>
      </p:sp>
      <p:sp>
        <p:nvSpPr>
          <p:cNvPr id="12" name="Shape 3">
            <a:extLst>
              <a:ext uri="{FF2B5EF4-FFF2-40B4-BE49-F238E27FC236}">
                <a16:creationId xmlns:a16="http://schemas.microsoft.com/office/drawing/2014/main" id="{0AD5AAFF-4AB8-3A67-6370-E580BEFA3B1A}"/>
              </a:ext>
            </a:extLst>
          </p:cNvPr>
          <p:cNvSpPr txBox="1">
            <a:spLocks/>
          </p:cNvSpPr>
          <p:nvPr/>
        </p:nvSpPr>
        <p:spPr>
          <a:xfrm>
            <a:off x="6129497" y="1849371"/>
            <a:ext cx="2442754" cy="2804923"/>
          </a:xfrm>
          <a:prstGeom prst="rect">
            <a:avLst/>
          </a:prstGeom>
          <a:solidFill>
            <a:schemeClr val="bg2"/>
          </a:solidFill>
          <a:ln/>
          <a:effectLst>
            <a:outerShdw blurRad="101600" dist="38100" dir="8100000" algn="bl" rotWithShape="0">
              <a:srgbClr val="000000">
                <a:alpha val="35000"/>
              </a:srgbClr>
            </a:outerShdw>
          </a:effectLst>
        </p:spPr>
        <p:txBody>
          <a:bodyPr/>
          <a:lstStyle>
            <a:lvl1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1pPr>
            <a:lvl2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2pPr>
            <a:lvl3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3pPr>
            <a:lvl4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4pPr>
            <a:lvl5pPr marL="0" indent="0" algn="l" defTabSz="914400" rtl="0" eaLnBrk="1" latinLnBrk="0" hangingPunct="1">
              <a:spcBef>
                <a:spcPct val="20000"/>
              </a:spcBef>
              <a:spcAft>
                <a:spcPts val="2250"/>
              </a:spcAft>
              <a:buFont typeface="Arial" pitchFamily="34" charset="0"/>
              <a:buNone/>
              <a:defRPr sz="1800" b="0" i="0" kern="1200">
                <a:solidFill>
                  <a:schemeClr val="tx1"/>
                </a:solidFill>
                <a:latin typeface="Amazon Ember Display" panose="020F0603020204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Entity graph</a:t>
            </a:r>
          </a:p>
          <a:p>
            <a:pPr marL="285750" indent="-285750">
              <a:buFont typeface="Arial" panose="020B0604020202020204" pitchFamily="34" charset="0"/>
              <a:buChar char="•"/>
            </a:pPr>
            <a:r>
              <a:rPr lang="en-US" dirty="0"/>
              <a:t>Traversal based</a:t>
            </a:r>
          </a:p>
          <a:p>
            <a:pPr marL="285750" indent="-285750">
              <a:buFont typeface="Arial" panose="020B0604020202020204" pitchFamily="34" charset="0"/>
              <a:buChar char="•"/>
            </a:pPr>
            <a:r>
              <a:rPr lang="en-US" dirty="0"/>
              <a:t>How things connect</a:t>
            </a:r>
          </a:p>
        </p:txBody>
      </p:sp>
      <p:pic>
        <p:nvPicPr>
          <p:cNvPr id="15" name="Picture 14">
            <a:extLst>
              <a:ext uri="{FF2B5EF4-FFF2-40B4-BE49-F238E27FC236}">
                <a16:creationId xmlns:a16="http://schemas.microsoft.com/office/drawing/2014/main" id="{FE3517BD-43D6-3D06-D142-416C44298FD4}"/>
              </a:ext>
            </a:extLst>
          </p:cNvPr>
          <p:cNvPicPr>
            <a:picLocks noChangeAspect="1"/>
          </p:cNvPicPr>
          <p:nvPr/>
        </p:nvPicPr>
        <p:blipFill>
          <a:blip r:embed="rId3"/>
          <a:stretch>
            <a:fillRect/>
          </a:stretch>
        </p:blipFill>
        <p:spPr>
          <a:xfrm>
            <a:off x="6766427" y="66282"/>
            <a:ext cx="1168893" cy="848390"/>
          </a:xfrm>
          <a:prstGeom prst="rect">
            <a:avLst/>
          </a:prstGeom>
        </p:spPr>
      </p:pic>
      <p:pic>
        <p:nvPicPr>
          <p:cNvPr id="17" name="Picture 16">
            <a:extLst>
              <a:ext uri="{FF2B5EF4-FFF2-40B4-BE49-F238E27FC236}">
                <a16:creationId xmlns:a16="http://schemas.microsoft.com/office/drawing/2014/main" id="{EAD9F5A7-D63A-22D8-56A3-EF07B28F47A9}"/>
              </a:ext>
            </a:extLst>
          </p:cNvPr>
          <p:cNvPicPr>
            <a:picLocks noChangeAspect="1"/>
          </p:cNvPicPr>
          <p:nvPr/>
        </p:nvPicPr>
        <p:blipFill>
          <a:blip r:embed="rId4"/>
          <a:stretch>
            <a:fillRect/>
          </a:stretch>
        </p:blipFill>
        <p:spPr>
          <a:xfrm>
            <a:off x="7759938" y="66282"/>
            <a:ext cx="1168893" cy="847119"/>
          </a:xfrm>
          <a:prstGeom prst="rect">
            <a:avLst/>
          </a:prstGeom>
        </p:spPr>
      </p:pic>
      <p:pic>
        <p:nvPicPr>
          <p:cNvPr id="2" name="Picture 1">
            <a:extLst>
              <a:ext uri="{FF2B5EF4-FFF2-40B4-BE49-F238E27FC236}">
                <a16:creationId xmlns:a16="http://schemas.microsoft.com/office/drawing/2014/main" id="{79C8FEC4-26E1-EC66-AAE4-1E1525D0BF43}"/>
              </a:ext>
            </a:extLst>
          </p:cNvPr>
          <p:cNvPicPr>
            <a:picLocks noChangeAspect="1"/>
          </p:cNvPicPr>
          <p:nvPr/>
        </p:nvPicPr>
        <p:blipFill>
          <a:blip r:embed="rId5"/>
          <a:stretch>
            <a:fillRect/>
          </a:stretch>
        </p:blipFill>
        <p:spPr>
          <a:xfrm>
            <a:off x="7863119" y="108392"/>
            <a:ext cx="1227982" cy="863096"/>
          </a:xfrm>
          <a:prstGeom prst="rect">
            <a:avLst/>
          </a:prstGeom>
        </p:spPr>
      </p:pic>
    </p:spTree>
    <p:extLst>
      <p:ext uri="{BB962C8B-B14F-4D97-AF65-F5344CB8AC3E}">
        <p14:creationId xmlns:p14="http://schemas.microsoft.com/office/powerpoint/2010/main" val="378087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61C08-E9EE-60DA-473D-4953E4C08BB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C874320-D262-54B8-75AB-37B077BFBFB1}"/>
              </a:ext>
            </a:extLst>
          </p:cNvPr>
          <p:cNvPicPr>
            <a:picLocks noChangeAspect="1"/>
          </p:cNvPicPr>
          <p:nvPr/>
        </p:nvPicPr>
        <p:blipFill>
          <a:blip r:embed="rId3"/>
          <a:stretch>
            <a:fillRect/>
          </a:stretch>
        </p:blipFill>
        <p:spPr>
          <a:xfrm>
            <a:off x="502920" y="164412"/>
            <a:ext cx="7047690" cy="4206240"/>
          </a:xfrm>
          <a:prstGeom prst="rect">
            <a:avLst/>
          </a:prstGeom>
        </p:spPr>
      </p:pic>
      <p:pic>
        <p:nvPicPr>
          <p:cNvPr id="9" name="Picture 8">
            <a:extLst>
              <a:ext uri="{FF2B5EF4-FFF2-40B4-BE49-F238E27FC236}">
                <a16:creationId xmlns:a16="http://schemas.microsoft.com/office/drawing/2014/main" id="{0983ABC8-0698-AF7C-BA01-CBFC7A2D7D7E}"/>
              </a:ext>
            </a:extLst>
          </p:cNvPr>
          <p:cNvPicPr>
            <a:picLocks noChangeAspect="1"/>
          </p:cNvPicPr>
          <p:nvPr/>
        </p:nvPicPr>
        <p:blipFill>
          <a:blip r:embed="rId4"/>
          <a:stretch>
            <a:fillRect/>
          </a:stretch>
        </p:blipFill>
        <p:spPr>
          <a:xfrm>
            <a:off x="6779700" y="66282"/>
            <a:ext cx="1168893" cy="848390"/>
          </a:xfrm>
          <a:prstGeom prst="rect">
            <a:avLst/>
          </a:prstGeom>
        </p:spPr>
      </p:pic>
      <p:pic>
        <p:nvPicPr>
          <p:cNvPr id="10" name="Picture 9">
            <a:extLst>
              <a:ext uri="{FF2B5EF4-FFF2-40B4-BE49-F238E27FC236}">
                <a16:creationId xmlns:a16="http://schemas.microsoft.com/office/drawing/2014/main" id="{11250A53-12C5-2DC4-369F-7A25D9800D5A}"/>
              </a:ext>
            </a:extLst>
          </p:cNvPr>
          <p:cNvPicPr>
            <a:picLocks noChangeAspect="1"/>
          </p:cNvPicPr>
          <p:nvPr/>
        </p:nvPicPr>
        <p:blipFill>
          <a:blip r:embed="rId5"/>
          <a:stretch>
            <a:fillRect/>
          </a:stretch>
        </p:blipFill>
        <p:spPr>
          <a:xfrm>
            <a:off x="7759938" y="66282"/>
            <a:ext cx="1168893" cy="847119"/>
          </a:xfrm>
          <a:prstGeom prst="rect">
            <a:avLst/>
          </a:prstGeom>
        </p:spPr>
      </p:pic>
      <p:pic>
        <p:nvPicPr>
          <p:cNvPr id="2" name="Graphic 1">
            <a:extLst>
              <a:ext uri="{FF2B5EF4-FFF2-40B4-BE49-F238E27FC236}">
                <a16:creationId xmlns:a16="http://schemas.microsoft.com/office/drawing/2014/main" id="{C4264133-51C0-B9C2-334A-D506F05330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7357" y="4637877"/>
            <a:ext cx="2388476" cy="341211"/>
          </a:xfrm>
          <a:prstGeom prst="rect">
            <a:avLst/>
          </a:prstGeom>
        </p:spPr>
      </p:pic>
      <p:pic>
        <p:nvPicPr>
          <p:cNvPr id="4" name="Graphic 3">
            <a:extLst>
              <a:ext uri="{FF2B5EF4-FFF2-40B4-BE49-F238E27FC236}">
                <a16:creationId xmlns:a16="http://schemas.microsoft.com/office/drawing/2014/main" id="{06D9828D-4278-B938-6A35-A55613E2AB0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38194" y="4602216"/>
            <a:ext cx="412531" cy="412531"/>
          </a:xfrm>
          <a:prstGeom prst="rect">
            <a:avLst/>
          </a:prstGeom>
        </p:spPr>
      </p:pic>
    </p:spTree>
    <p:extLst>
      <p:ext uri="{BB962C8B-B14F-4D97-AF65-F5344CB8AC3E}">
        <p14:creationId xmlns:p14="http://schemas.microsoft.com/office/powerpoint/2010/main" val="6496710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52A236-0A52-2841-53E2-E3D09C1B72A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5EB173E-913C-5292-CCB2-C917063A0EC7}"/>
              </a:ext>
            </a:extLst>
          </p:cNvPr>
          <p:cNvPicPr>
            <a:picLocks noChangeAspect="1"/>
          </p:cNvPicPr>
          <p:nvPr/>
        </p:nvPicPr>
        <p:blipFill>
          <a:blip r:embed="rId3"/>
          <a:stretch>
            <a:fillRect/>
          </a:stretch>
        </p:blipFill>
        <p:spPr>
          <a:xfrm>
            <a:off x="7236336" y="545"/>
            <a:ext cx="1002729" cy="727787"/>
          </a:xfrm>
          <a:prstGeom prst="rect">
            <a:avLst/>
          </a:prstGeom>
        </p:spPr>
      </p:pic>
      <p:pic>
        <p:nvPicPr>
          <p:cNvPr id="7" name="Picture 6">
            <a:extLst>
              <a:ext uri="{FF2B5EF4-FFF2-40B4-BE49-F238E27FC236}">
                <a16:creationId xmlns:a16="http://schemas.microsoft.com/office/drawing/2014/main" id="{659E9B0E-E5DC-E387-0DD5-EE50D032C814}"/>
              </a:ext>
            </a:extLst>
          </p:cNvPr>
          <p:cNvPicPr>
            <a:picLocks noChangeAspect="1"/>
          </p:cNvPicPr>
          <p:nvPr/>
        </p:nvPicPr>
        <p:blipFill>
          <a:blip r:embed="rId4"/>
          <a:stretch>
            <a:fillRect/>
          </a:stretch>
        </p:blipFill>
        <p:spPr>
          <a:xfrm>
            <a:off x="8064761" y="1091"/>
            <a:ext cx="1002729" cy="726697"/>
          </a:xfrm>
          <a:prstGeom prst="rect">
            <a:avLst/>
          </a:prstGeom>
        </p:spPr>
      </p:pic>
      <p:pic>
        <p:nvPicPr>
          <p:cNvPr id="2" name="Picture 1">
            <a:extLst>
              <a:ext uri="{FF2B5EF4-FFF2-40B4-BE49-F238E27FC236}">
                <a16:creationId xmlns:a16="http://schemas.microsoft.com/office/drawing/2014/main" id="{7BAC7ED0-A8CC-3E07-7EDD-4787380BF8B7}"/>
              </a:ext>
            </a:extLst>
          </p:cNvPr>
          <p:cNvPicPr>
            <a:picLocks noChangeAspect="1"/>
          </p:cNvPicPr>
          <p:nvPr/>
        </p:nvPicPr>
        <p:blipFill>
          <a:blip r:embed="rId5"/>
          <a:stretch>
            <a:fillRect/>
          </a:stretch>
        </p:blipFill>
        <p:spPr>
          <a:xfrm>
            <a:off x="6331401" y="0"/>
            <a:ext cx="1050169" cy="738119"/>
          </a:xfrm>
          <a:prstGeom prst="rect">
            <a:avLst/>
          </a:prstGeom>
        </p:spPr>
      </p:pic>
      <p:pic>
        <p:nvPicPr>
          <p:cNvPr id="8" name="Picture 7">
            <a:extLst>
              <a:ext uri="{FF2B5EF4-FFF2-40B4-BE49-F238E27FC236}">
                <a16:creationId xmlns:a16="http://schemas.microsoft.com/office/drawing/2014/main" id="{09E5ADC3-2505-482C-D646-588BE273A90E}"/>
              </a:ext>
            </a:extLst>
          </p:cNvPr>
          <p:cNvPicPr>
            <a:picLocks noChangeAspect="1"/>
          </p:cNvPicPr>
          <p:nvPr/>
        </p:nvPicPr>
        <p:blipFill>
          <a:blip r:embed="rId6"/>
          <a:stretch>
            <a:fillRect/>
          </a:stretch>
        </p:blipFill>
        <p:spPr>
          <a:xfrm>
            <a:off x="502920" y="365760"/>
            <a:ext cx="5476009" cy="3886200"/>
          </a:xfrm>
          <a:prstGeom prst="rect">
            <a:avLst/>
          </a:prstGeom>
        </p:spPr>
      </p:pic>
      <p:pic>
        <p:nvPicPr>
          <p:cNvPr id="9" name="Graphic 8">
            <a:extLst>
              <a:ext uri="{FF2B5EF4-FFF2-40B4-BE49-F238E27FC236}">
                <a16:creationId xmlns:a16="http://schemas.microsoft.com/office/drawing/2014/main" id="{CA1CBF02-4ADC-D0CF-C4CF-AE0BAFAD16D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7357" y="4637877"/>
            <a:ext cx="2388476" cy="341211"/>
          </a:xfrm>
          <a:prstGeom prst="rect">
            <a:avLst/>
          </a:prstGeom>
        </p:spPr>
      </p:pic>
      <p:pic>
        <p:nvPicPr>
          <p:cNvPr id="10" name="Graphic 9">
            <a:extLst>
              <a:ext uri="{FF2B5EF4-FFF2-40B4-BE49-F238E27FC236}">
                <a16:creationId xmlns:a16="http://schemas.microsoft.com/office/drawing/2014/main" id="{10629461-C6F8-6EFF-377A-7CB381D3AA6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38194" y="4602216"/>
            <a:ext cx="412531" cy="412531"/>
          </a:xfrm>
          <a:prstGeom prst="rect">
            <a:avLst/>
          </a:prstGeom>
        </p:spPr>
      </p:pic>
    </p:spTree>
    <p:extLst>
      <p:ext uri="{BB962C8B-B14F-4D97-AF65-F5344CB8AC3E}">
        <p14:creationId xmlns:p14="http://schemas.microsoft.com/office/powerpoint/2010/main" val="15981087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1A334-6078-B413-7F45-07C8AF9D62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AF8062-BBFB-0CB6-7268-D1A686AF5BF7}"/>
              </a:ext>
            </a:extLst>
          </p:cNvPr>
          <p:cNvSpPr>
            <a:spLocks noGrp="1"/>
          </p:cNvSpPr>
          <p:nvPr>
            <p:ph type="body" sz="quarter" idx="10"/>
          </p:nvPr>
        </p:nvSpPr>
        <p:spPr>
          <a:xfrm>
            <a:off x="457200" y="1283611"/>
            <a:ext cx="8229600" cy="3474720"/>
          </a:xfrm>
        </p:spPr>
        <p:txBody>
          <a:bodyPr/>
          <a:lstStyle/>
          <a:p>
            <a:pPr marL="285750" indent="-285750">
              <a:buFont typeface="Arial" panose="020B0604020202020204" pitchFamily="34" charset="0"/>
              <a:buChar char="•"/>
            </a:pPr>
            <a:r>
              <a:rPr lang="en-US"/>
              <a:t>Agents need more than just conversation history</a:t>
            </a:r>
          </a:p>
          <a:p>
            <a:pPr marL="285750" indent="-285750">
              <a:buFont typeface="Arial" panose="020B0604020202020204" pitchFamily="34" charset="0"/>
              <a:buChar char="•"/>
            </a:pPr>
            <a:r>
              <a:rPr lang="en-US" dirty="0"/>
              <a:t>Give the agent tools to pull data from knowledge bases (RAG), file systems, MCP servers, and APIs on demand</a:t>
            </a:r>
          </a:p>
          <a:p>
            <a:pPr marL="285750" indent="-285750">
              <a:buFont typeface="Arial" panose="020B0604020202020204" pitchFamily="34" charset="0"/>
              <a:buChar char="•"/>
            </a:pPr>
            <a:r>
              <a:rPr lang="en-US" dirty="0"/>
              <a:t>Skills use progressive disclosure</a:t>
            </a:r>
          </a:p>
          <a:p>
            <a:pPr marL="285750" indent="-285750">
              <a:buFont typeface="Arial" panose="020B0604020202020204" pitchFamily="34" charset="0"/>
              <a:buChar char="•"/>
            </a:pPr>
            <a:r>
              <a:rPr lang="en-US" dirty="0"/>
              <a:t>The agent decides what to retrieve and when</a:t>
            </a:r>
          </a:p>
        </p:txBody>
      </p:sp>
      <p:sp>
        <p:nvSpPr>
          <p:cNvPr id="3" name="Slide Number Placeholder 2">
            <a:extLst>
              <a:ext uri="{FF2B5EF4-FFF2-40B4-BE49-F238E27FC236}">
                <a16:creationId xmlns:a16="http://schemas.microsoft.com/office/drawing/2014/main" id="{B8EFF150-293D-675D-9C50-FB2D9D7501C3}"/>
              </a:ext>
            </a:extLst>
          </p:cNvPr>
          <p:cNvSpPr>
            <a:spLocks noGrp="1"/>
          </p:cNvSpPr>
          <p:nvPr>
            <p:ph type="sldNum" sz="quarter" idx="13"/>
          </p:nvPr>
        </p:nvSpPr>
        <p:spPr>
          <a:xfrm>
            <a:off x="0" y="0"/>
            <a:ext cx="0" cy="0"/>
          </a:xfrm>
        </p:spPr>
        <p:txBody>
          <a:bodyPr/>
          <a:lstStyle/>
          <a:p>
            <a:r>
              <a:rPr lang="en-US" dirty="0"/>
              <a:t> </a:t>
            </a:r>
          </a:p>
        </p:txBody>
      </p:sp>
      <p:sp>
        <p:nvSpPr>
          <p:cNvPr id="4" name="Title 3">
            <a:extLst>
              <a:ext uri="{FF2B5EF4-FFF2-40B4-BE49-F238E27FC236}">
                <a16:creationId xmlns:a16="http://schemas.microsoft.com/office/drawing/2014/main" id="{7267091F-7D02-CFD5-DC6F-DD020BE8A9B6}"/>
              </a:ext>
            </a:extLst>
          </p:cNvPr>
          <p:cNvSpPr>
            <a:spLocks noGrp="1"/>
          </p:cNvSpPr>
          <p:nvPr>
            <p:ph type="title"/>
          </p:nvPr>
        </p:nvSpPr>
        <p:spPr>
          <a:xfrm>
            <a:off x="457200" y="457200"/>
            <a:ext cx="8229600" cy="548640"/>
          </a:xfrm>
        </p:spPr>
        <p:txBody>
          <a:bodyPr/>
          <a:lstStyle/>
          <a:p>
            <a:r>
              <a:rPr dirty="0">
                <a:solidFill>
                  <a:schemeClr val="tx1"/>
                </a:solidFill>
              </a:rPr>
              <a:t>Tool-Driven Context Injection</a:t>
            </a:r>
            <a:endParaRPr lang="en-US" sz="2400" dirty="0">
              <a:solidFill>
                <a:schemeClr val="tx1"/>
              </a:solidFill>
              <a:ea typeface="+mn-ea"/>
              <a:cs typeface="+mn-cs"/>
            </a:endParaRPr>
          </a:p>
        </p:txBody>
      </p:sp>
      <p:pic>
        <p:nvPicPr>
          <p:cNvPr id="5" name="Picture 4">
            <a:extLst>
              <a:ext uri="{FF2B5EF4-FFF2-40B4-BE49-F238E27FC236}">
                <a16:creationId xmlns:a16="http://schemas.microsoft.com/office/drawing/2014/main" id="{577F1595-3E75-66A2-D106-87006478D534}"/>
              </a:ext>
            </a:extLst>
          </p:cNvPr>
          <p:cNvPicPr>
            <a:picLocks noChangeAspect="1"/>
          </p:cNvPicPr>
          <p:nvPr/>
        </p:nvPicPr>
        <p:blipFill>
          <a:blip r:embed="rId3"/>
          <a:stretch>
            <a:fillRect/>
          </a:stretch>
        </p:blipFill>
        <p:spPr>
          <a:xfrm>
            <a:off x="7854924" y="24864"/>
            <a:ext cx="1193112" cy="864671"/>
          </a:xfrm>
          <a:prstGeom prst="rect">
            <a:avLst/>
          </a:prstGeom>
        </p:spPr>
      </p:pic>
    </p:spTree>
    <p:extLst>
      <p:ext uri="{BB962C8B-B14F-4D97-AF65-F5344CB8AC3E}">
        <p14:creationId xmlns:p14="http://schemas.microsoft.com/office/powerpoint/2010/main" val="297698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88B5CBC-5479-D1C7-A88A-8BBE590D2F21}"/>
              </a:ext>
            </a:extLst>
          </p:cNvPr>
          <p:cNvPicPr>
            <a:picLocks noChangeAspect="1"/>
          </p:cNvPicPr>
          <p:nvPr/>
        </p:nvPicPr>
        <p:blipFill>
          <a:blip r:embed="rId3"/>
          <a:stretch>
            <a:fillRect/>
          </a:stretch>
        </p:blipFill>
        <p:spPr>
          <a:xfrm>
            <a:off x="7787872" y="107092"/>
            <a:ext cx="1193112" cy="864671"/>
          </a:xfrm>
          <a:prstGeom prst="rect">
            <a:avLst/>
          </a:prstGeom>
        </p:spPr>
      </p:pic>
      <p:pic>
        <p:nvPicPr>
          <p:cNvPr id="3" name="Picture 2">
            <a:extLst>
              <a:ext uri="{FF2B5EF4-FFF2-40B4-BE49-F238E27FC236}">
                <a16:creationId xmlns:a16="http://schemas.microsoft.com/office/drawing/2014/main" id="{A0A7F4EF-5D41-1673-6972-F31255EFCDE9}"/>
              </a:ext>
            </a:extLst>
          </p:cNvPr>
          <p:cNvPicPr>
            <a:picLocks noChangeAspect="1"/>
          </p:cNvPicPr>
          <p:nvPr/>
        </p:nvPicPr>
        <p:blipFill>
          <a:blip r:embed="rId4"/>
          <a:stretch>
            <a:fillRect/>
          </a:stretch>
        </p:blipFill>
        <p:spPr>
          <a:xfrm>
            <a:off x="415282" y="128753"/>
            <a:ext cx="6035443" cy="4257201"/>
          </a:xfrm>
          <a:prstGeom prst="rect">
            <a:avLst/>
          </a:prstGeom>
        </p:spPr>
      </p:pic>
      <p:pic>
        <p:nvPicPr>
          <p:cNvPr id="4" name="Graphic 3">
            <a:extLst>
              <a:ext uri="{FF2B5EF4-FFF2-40B4-BE49-F238E27FC236}">
                <a16:creationId xmlns:a16="http://schemas.microsoft.com/office/drawing/2014/main" id="{D0DA822F-0910-A548-D73D-AE9452BE5F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7357" y="4637877"/>
            <a:ext cx="2388476" cy="341211"/>
          </a:xfrm>
          <a:prstGeom prst="rect">
            <a:avLst/>
          </a:prstGeom>
        </p:spPr>
      </p:pic>
      <p:pic>
        <p:nvPicPr>
          <p:cNvPr id="5" name="Graphic 4">
            <a:extLst>
              <a:ext uri="{FF2B5EF4-FFF2-40B4-BE49-F238E27FC236}">
                <a16:creationId xmlns:a16="http://schemas.microsoft.com/office/drawing/2014/main" id="{0D5B12DA-EEAB-C923-84AA-D2DF3A36A7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38194" y="4602216"/>
            <a:ext cx="412531" cy="412531"/>
          </a:xfrm>
          <a:prstGeom prst="rect">
            <a:avLst/>
          </a:prstGeom>
        </p:spPr>
      </p:pic>
    </p:spTree>
    <p:extLst>
      <p:ext uri="{BB962C8B-B14F-4D97-AF65-F5344CB8AC3E}">
        <p14:creationId xmlns:p14="http://schemas.microsoft.com/office/powerpoint/2010/main" val="702859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1BDB8-4945-D33F-C301-B476CFF60D0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952487-9438-1CA2-D859-397E3DCED085}"/>
              </a:ext>
            </a:extLst>
          </p:cNvPr>
          <p:cNvSpPr>
            <a:spLocks noGrp="1"/>
          </p:cNvSpPr>
          <p:nvPr>
            <p:ph type="body" sz="quarter" idx="10"/>
          </p:nvPr>
        </p:nvSpPr>
        <p:spPr>
          <a:xfrm>
            <a:off x="457200" y="1283611"/>
            <a:ext cx="8229600" cy="3474720"/>
          </a:xfrm>
        </p:spPr>
        <p:txBody>
          <a:bodyPr/>
          <a:lstStyle/>
          <a:p>
            <a:pPr marL="285750" indent="-285750">
              <a:buFont typeface="Arial" panose="020B0604020202020204" pitchFamily="34" charset="0"/>
              <a:buChar char="•"/>
            </a:pPr>
            <a:r>
              <a:rPr lang="en-US"/>
              <a:t>Tool results can be verbose and eat up your context window</a:t>
            </a:r>
          </a:p>
          <a:p>
            <a:pPr marL="285750" indent="-285750">
              <a:buFont typeface="Arial" panose="020B0604020202020204" pitchFamily="34" charset="0"/>
              <a:buChar char="•"/>
            </a:pPr>
            <a:r>
              <a:rPr lang="en-US" dirty="0"/>
              <a:t>Most of it is not relevant to every single turn of the agent loop</a:t>
            </a:r>
          </a:p>
          <a:p>
            <a:pPr marL="285750" indent="-285750">
              <a:buFont typeface="Arial" panose="020B0604020202020204" pitchFamily="34" charset="0"/>
              <a:buChar char="•"/>
            </a:pPr>
            <a:r>
              <a:rPr lang="en-US" dirty="0"/>
              <a:t>Configure offloading to keep a preview and stash the original</a:t>
            </a:r>
          </a:p>
          <a:p>
            <a:pPr marL="285750" indent="-285750">
              <a:buFont typeface="Arial" panose="020B0604020202020204" pitchFamily="34" charset="0"/>
              <a:buChar char="•"/>
            </a:pPr>
            <a:r>
              <a:rPr lang="en-US" dirty="0"/>
              <a:t>Let the agent retrieve the full result when it needs more detail</a:t>
            </a:r>
          </a:p>
        </p:txBody>
      </p:sp>
      <p:sp>
        <p:nvSpPr>
          <p:cNvPr id="3" name="Slide Number Placeholder 2">
            <a:extLst>
              <a:ext uri="{FF2B5EF4-FFF2-40B4-BE49-F238E27FC236}">
                <a16:creationId xmlns:a16="http://schemas.microsoft.com/office/drawing/2014/main" id="{EA726410-B4F1-0019-213B-AF5BF0AED2ED}"/>
              </a:ext>
            </a:extLst>
          </p:cNvPr>
          <p:cNvSpPr>
            <a:spLocks noGrp="1"/>
          </p:cNvSpPr>
          <p:nvPr>
            <p:ph type="sldNum" sz="quarter" idx="13"/>
          </p:nvPr>
        </p:nvSpPr>
        <p:spPr>
          <a:xfrm>
            <a:off x="0" y="0"/>
            <a:ext cx="0" cy="0"/>
          </a:xfrm>
        </p:spPr>
        <p:txBody>
          <a:bodyPr/>
          <a:lstStyle/>
          <a:p>
            <a:r>
              <a:rPr lang="en-US" dirty="0"/>
              <a:t> </a:t>
            </a:r>
          </a:p>
        </p:txBody>
      </p:sp>
      <p:sp>
        <p:nvSpPr>
          <p:cNvPr id="4" name="Title 3">
            <a:extLst>
              <a:ext uri="{FF2B5EF4-FFF2-40B4-BE49-F238E27FC236}">
                <a16:creationId xmlns:a16="http://schemas.microsoft.com/office/drawing/2014/main" id="{554C25B3-09B7-7DCF-9851-80B1E6D6F186}"/>
              </a:ext>
            </a:extLst>
          </p:cNvPr>
          <p:cNvSpPr>
            <a:spLocks noGrp="1"/>
          </p:cNvSpPr>
          <p:nvPr>
            <p:ph type="title"/>
          </p:nvPr>
        </p:nvSpPr>
        <p:spPr>
          <a:xfrm>
            <a:off x="457200" y="457200"/>
            <a:ext cx="8229600" cy="548640"/>
          </a:xfrm>
        </p:spPr>
        <p:txBody>
          <a:bodyPr/>
          <a:lstStyle/>
          <a:p>
            <a:r>
              <a:rPr lang="en-US" dirty="0">
                <a:solidFill>
                  <a:schemeClr val="tx1"/>
                </a:solidFill>
              </a:rPr>
              <a:t>Offload Large Tool Results</a:t>
            </a:r>
            <a:endParaRPr lang="en-US" sz="2400" dirty="0">
              <a:solidFill>
                <a:schemeClr val="tx1"/>
              </a:solidFill>
              <a:ea typeface="+mn-ea"/>
              <a:cs typeface="+mn-cs"/>
            </a:endParaRPr>
          </a:p>
        </p:txBody>
      </p:sp>
      <p:pic>
        <p:nvPicPr>
          <p:cNvPr id="5" name="Picture 4">
            <a:extLst>
              <a:ext uri="{FF2B5EF4-FFF2-40B4-BE49-F238E27FC236}">
                <a16:creationId xmlns:a16="http://schemas.microsoft.com/office/drawing/2014/main" id="{90DBD547-4298-983B-3D38-8A6B02F01A72}"/>
              </a:ext>
            </a:extLst>
          </p:cNvPr>
          <p:cNvPicPr>
            <a:picLocks noChangeAspect="1"/>
          </p:cNvPicPr>
          <p:nvPr/>
        </p:nvPicPr>
        <p:blipFill>
          <a:blip r:embed="rId3"/>
          <a:stretch>
            <a:fillRect/>
          </a:stretch>
        </p:blipFill>
        <p:spPr>
          <a:xfrm>
            <a:off x="7854924" y="24864"/>
            <a:ext cx="1193112" cy="864671"/>
          </a:xfrm>
          <a:prstGeom prst="rect">
            <a:avLst/>
          </a:prstGeom>
        </p:spPr>
      </p:pic>
      <p:pic>
        <p:nvPicPr>
          <p:cNvPr id="6" name="Picture 5">
            <a:extLst>
              <a:ext uri="{FF2B5EF4-FFF2-40B4-BE49-F238E27FC236}">
                <a16:creationId xmlns:a16="http://schemas.microsoft.com/office/drawing/2014/main" id="{A85B8844-A001-A52E-0D5D-A20C920C55D9}"/>
              </a:ext>
            </a:extLst>
          </p:cNvPr>
          <p:cNvPicPr>
            <a:picLocks noChangeAspect="1"/>
          </p:cNvPicPr>
          <p:nvPr/>
        </p:nvPicPr>
        <p:blipFill>
          <a:blip r:embed="rId4"/>
          <a:stretch>
            <a:fillRect/>
          </a:stretch>
        </p:blipFill>
        <p:spPr>
          <a:xfrm>
            <a:off x="6986434" y="41145"/>
            <a:ext cx="1168893" cy="848390"/>
          </a:xfrm>
          <a:prstGeom prst="rect">
            <a:avLst/>
          </a:prstGeom>
        </p:spPr>
      </p:pic>
    </p:spTree>
    <p:extLst>
      <p:ext uri="{BB962C8B-B14F-4D97-AF65-F5344CB8AC3E}">
        <p14:creationId xmlns:p14="http://schemas.microsoft.com/office/powerpoint/2010/main" val="726582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9D48B4B-9046-0585-0201-361A8385FC1D}"/>
              </a:ext>
            </a:extLst>
          </p:cNvPr>
          <p:cNvPicPr>
            <a:picLocks noChangeAspect="1"/>
          </p:cNvPicPr>
          <p:nvPr/>
        </p:nvPicPr>
        <p:blipFill>
          <a:blip r:embed="rId3"/>
          <a:stretch>
            <a:fillRect/>
          </a:stretch>
        </p:blipFill>
        <p:spPr>
          <a:xfrm>
            <a:off x="7690758" y="0"/>
            <a:ext cx="1193112" cy="864671"/>
          </a:xfrm>
          <a:prstGeom prst="rect">
            <a:avLst/>
          </a:prstGeom>
        </p:spPr>
      </p:pic>
      <p:pic>
        <p:nvPicPr>
          <p:cNvPr id="10" name="Picture 9">
            <a:extLst>
              <a:ext uri="{FF2B5EF4-FFF2-40B4-BE49-F238E27FC236}">
                <a16:creationId xmlns:a16="http://schemas.microsoft.com/office/drawing/2014/main" id="{A4623799-8E2C-8819-8D72-355419D95C98}"/>
              </a:ext>
            </a:extLst>
          </p:cNvPr>
          <p:cNvPicPr>
            <a:picLocks noChangeAspect="1"/>
          </p:cNvPicPr>
          <p:nvPr/>
        </p:nvPicPr>
        <p:blipFill>
          <a:blip r:embed="rId4"/>
          <a:stretch>
            <a:fillRect/>
          </a:stretch>
        </p:blipFill>
        <p:spPr>
          <a:xfrm>
            <a:off x="6830150" y="16281"/>
            <a:ext cx="1168893" cy="848390"/>
          </a:xfrm>
          <a:prstGeom prst="rect">
            <a:avLst/>
          </a:prstGeom>
        </p:spPr>
      </p:pic>
      <p:pic>
        <p:nvPicPr>
          <p:cNvPr id="5" name="Picture 4">
            <a:extLst>
              <a:ext uri="{FF2B5EF4-FFF2-40B4-BE49-F238E27FC236}">
                <a16:creationId xmlns:a16="http://schemas.microsoft.com/office/drawing/2014/main" id="{1D6E41E9-92C6-0B35-8015-2352ACE5363F}"/>
              </a:ext>
            </a:extLst>
          </p:cNvPr>
          <p:cNvPicPr>
            <a:picLocks noChangeAspect="1"/>
          </p:cNvPicPr>
          <p:nvPr/>
        </p:nvPicPr>
        <p:blipFill>
          <a:blip r:embed="rId5"/>
          <a:stretch>
            <a:fillRect/>
          </a:stretch>
        </p:blipFill>
        <p:spPr>
          <a:xfrm>
            <a:off x="421486" y="30557"/>
            <a:ext cx="5368642" cy="5082386"/>
          </a:xfrm>
          <a:prstGeom prst="rect">
            <a:avLst/>
          </a:prstGeom>
        </p:spPr>
      </p:pic>
      <p:pic>
        <p:nvPicPr>
          <p:cNvPr id="6" name="Graphic 5">
            <a:extLst>
              <a:ext uri="{FF2B5EF4-FFF2-40B4-BE49-F238E27FC236}">
                <a16:creationId xmlns:a16="http://schemas.microsoft.com/office/drawing/2014/main" id="{37946A90-EDDF-2619-81D9-66F31F6460B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7357" y="4637877"/>
            <a:ext cx="2388476" cy="341211"/>
          </a:xfrm>
          <a:prstGeom prst="rect">
            <a:avLst/>
          </a:prstGeom>
        </p:spPr>
      </p:pic>
      <p:pic>
        <p:nvPicPr>
          <p:cNvPr id="11" name="Graphic 10">
            <a:extLst>
              <a:ext uri="{FF2B5EF4-FFF2-40B4-BE49-F238E27FC236}">
                <a16:creationId xmlns:a16="http://schemas.microsoft.com/office/drawing/2014/main" id="{A76D0EFA-DD75-1FFB-6652-639BE08F4A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38194" y="4602216"/>
            <a:ext cx="412531" cy="412531"/>
          </a:xfrm>
          <a:prstGeom prst="rect">
            <a:avLst/>
          </a:prstGeom>
        </p:spPr>
      </p:pic>
    </p:spTree>
    <p:extLst>
      <p:ext uri="{BB962C8B-B14F-4D97-AF65-F5344CB8AC3E}">
        <p14:creationId xmlns:p14="http://schemas.microsoft.com/office/powerpoint/2010/main" val="1520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FC889-348F-D898-AB9F-9E2ECBFD25A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EB2434A-0737-6745-BD23-F844513F5900}"/>
              </a:ext>
            </a:extLst>
          </p:cNvPr>
          <p:cNvSpPr>
            <a:spLocks noGrp="1"/>
          </p:cNvSpPr>
          <p:nvPr>
            <p:ph type="body" sz="quarter" idx="10"/>
          </p:nvPr>
        </p:nvSpPr>
        <p:spPr>
          <a:xfrm>
            <a:off x="457200" y="1122918"/>
            <a:ext cx="8229600" cy="2469907"/>
          </a:xfrm>
        </p:spPr>
        <p:txBody>
          <a:bodyPr/>
          <a:lstStyle/>
          <a:p>
            <a:pPr marL="285750" indent="-285750">
              <a:buFont typeface="Arial" panose="020B0604020202020204" pitchFamily="34" charset="0"/>
              <a:buChar char="•"/>
            </a:pPr>
            <a:r>
              <a:rPr lang="en-US" dirty="0"/>
              <a:t>Offload large tool results with on-demand retrieval</a:t>
            </a:r>
          </a:p>
          <a:p>
            <a:pPr marL="285750" indent="-285750">
              <a:buFont typeface="Arial" panose="020B0604020202020204" pitchFamily="34" charset="0"/>
              <a:buChar char="•"/>
            </a:pPr>
            <a:r>
              <a:rPr lang="en-US" dirty="0"/>
              <a:t>Summarize older messages as context fills</a:t>
            </a:r>
          </a:p>
        </p:txBody>
      </p:sp>
      <p:sp>
        <p:nvSpPr>
          <p:cNvPr id="3" name="Title 2">
            <a:extLst>
              <a:ext uri="{FF2B5EF4-FFF2-40B4-BE49-F238E27FC236}">
                <a16:creationId xmlns:a16="http://schemas.microsoft.com/office/drawing/2014/main" id="{4D0C8F47-7B0B-C4F5-44F9-336F1B2D57F1}"/>
              </a:ext>
            </a:extLst>
          </p:cNvPr>
          <p:cNvSpPr>
            <a:spLocks noGrp="1"/>
          </p:cNvSpPr>
          <p:nvPr>
            <p:ph type="title"/>
          </p:nvPr>
        </p:nvSpPr>
        <p:spPr>
          <a:xfrm>
            <a:off x="-1868320" y="83585"/>
            <a:ext cx="8229600" cy="443198"/>
          </a:xfrm>
        </p:spPr>
        <p:txBody>
          <a:bodyPr/>
          <a:lstStyle/>
          <a:p>
            <a:r>
              <a:rPr lang="en-US"/>
              <a:t>Context management</a:t>
            </a:r>
            <a:br>
              <a:rPr lang="en-US"/>
            </a:br>
            <a:r>
              <a:rPr lang="en-US"/>
              <a:t>in one line</a:t>
            </a:r>
            <a:endParaRPr lang="en-US" dirty="0"/>
          </a:p>
        </p:txBody>
      </p:sp>
      <p:pic>
        <p:nvPicPr>
          <p:cNvPr id="6" name="Picture 5">
            <a:extLst>
              <a:ext uri="{FF2B5EF4-FFF2-40B4-BE49-F238E27FC236}">
                <a16:creationId xmlns:a16="http://schemas.microsoft.com/office/drawing/2014/main" id="{76AD6DA1-A137-3EB6-F1D0-0320AD8EACA5}"/>
              </a:ext>
            </a:extLst>
          </p:cNvPr>
          <p:cNvPicPr>
            <a:picLocks noChangeAspect="1"/>
          </p:cNvPicPr>
          <p:nvPr/>
        </p:nvPicPr>
        <p:blipFill>
          <a:blip r:embed="rId3"/>
          <a:stretch>
            <a:fillRect/>
          </a:stretch>
        </p:blipFill>
        <p:spPr>
          <a:xfrm>
            <a:off x="6743797" y="75444"/>
            <a:ext cx="1193112" cy="864671"/>
          </a:xfrm>
          <a:prstGeom prst="rect">
            <a:avLst/>
          </a:prstGeom>
        </p:spPr>
      </p:pic>
      <p:pic>
        <p:nvPicPr>
          <p:cNvPr id="7" name="Picture 6">
            <a:extLst>
              <a:ext uri="{FF2B5EF4-FFF2-40B4-BE49-F238E27FC236}">
                <a16:creationId xmlns:a16="http://schemas.microsoft.com/office/drawing/2014/main" id="{39077FED-0B0D-5AA8-4CA3-B250740B30E7}"/>
              </a:ext>
            </a:extLst>
          </p:cNvPr>
          <p:cNvPicPr>
            <a:picLocks noChangeAspect="1"/>
          </p:cNvPicPr>
          <p:nvPr/>
        </p:nvPicPr>
        <p:blipFill>
          <a:blip r:embed="rId4"/>
          <a:stretch>
            <a:fillRect/>
          </a:stretch>
        </p:blipFill>
        <p:spPr>
          <a:xfrm>
            <a:off x="5776833" y="83585"/>
            <a:ext cx="1168893" cy="848390"/>
          </a:xfrm>
          <a:prstGeom prst="rect">
            <a:avLst/>
          </a:prstGeom>
        </p:spPr>
      </p:pic>
      <p:pic>
        <p:nvPicPr>
          <p:cNvPr id="8" name="Picture 7">
            <a:extLst>
              <a:ext uri="{FF2B5EF4-FFF2-40B4-BE49-F238E27FC236}">
                <a16:creationId xmlns:a16="http://schemas.microsoft.com/office/drawing/2014/main" id="{E3C0671F-BAC0-71C1-EEB6-B75B605EF19D}"/>
              </a:ext>
            </a:extLst>
          </p:cNvPr>
          <p:cNvPicPr>
            <a:picLocks noChangeAspect="1"/>
          </p:cNvPicPr>
          <p:nvPr/>
        </p:nvPicPr>
        <p:blipFill>
          <a:blip r:embed="rId5"/>
          <a:stretch>
            <a:fillRect/>
          </a:stretch>
        </p:blipFill>
        <p:spPr>
          <a:xfrm>
            <a:off x="7734979" y="133698"/>
            <a:ext cx="1227982" cy="863096"/>
          </a:xfrm>
          <a:prstGeom prst="rect">
            <a:avLst/>
          </a:prstGeom>
        </p:spPr>
      </p:pic>
      <p:pic>
        <p:nvPicPr>
          <p:cNvPr id="9" name="Picture 8">
            <a:extLst>
              <a:ext uri="{FF2B5EF4-FFF2-40B4-BE49-F238E27FC236}">
                <a16:creationId xmlns:a16="http://schemas.microsoft.com/office/drawing/2014/main" id="{ADEF738E-28C0-BDAD-7DAD-8FCBEA53B552}"/>
              </a:ext>
            </a:extLst>
          </p:cNvPr>
          <p:cNvPicPr>
            <a:picLocks noChangeAspect="1"/>
          </p:cNvPicPr>
          <p:nvPr/>
        </p:nvPicPr>
        <p:blipFill>
          <a:blip r:embed="rId6"/>
          <a:stretch>
            <a:fillRect/>
          </a:stretch>
        </p:blipFill>
        <p:spPr>
          <a:xfrm>
            <a:off x="457200" y="2395369"/>
            <a:ext cx="5380772" cy="1793591"/>
          </a:xfrm>
          <a:prstGeom prst="rect">
            <a:avLst/>
          </a:prstGeom>
        </p:spPr>
      </p:pic>
      <p:pic>
        <p:nvPicPr>
          <p:cNvPr id="4" name="Graphic 3">
            <a:extLst>
              <a:ext uri="{FF2B5EF4-FFF2-40B4-BE49-F238E27FC236}">
                <a16:creationId xmlns:a16="http://schemas.microsoft.com/office/drawing/2014/main" id="{99A5A36A-3A8E-D023-81A5-75DA038894D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7357" y="4637877"/>
            <a:ext cx="2388476" cy="341211"/>
          </a:xfrm>
          <a:prstGeom prst="rect">
            <a:avLst/>
          </a:prstGeom>
        </p:spPr>
      </p:pic>
      <p:pic>
        <p:nvPicPr>
          <p:cNvPr id="5" name="Graphic 4">
            <a:extLst>
              <a:ext uri="{FF2B5EF4-FFF2-40B4-BE49-F238E27FC236}">
                <a16:creationId xmlns:a16="http://schemas.microsoft.com/office/drawing/2014/main" id="{11EE75BE-FE98-B6F6-E408-A35298D0C58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38194" y="4602216"/>
            <a:ext cx="412531" cy="412531"/>
          </a:xfrm>
          <a:prstGeom prst="rect">
            <a:avLst/>
          </a:prstGeom>
        </p:spPr>
      </p:pic>
    </p:spTree>
    <p:extLst>
      <p:ext uri="{BB962C8B-B14F-4D97-AF65-F5344CB8AC3E}">
        <p14:creationId xmlns:p14="http://schemas.microsoft.com/office/powerpoint/2010/main" val="3820369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43EEA-1BB1-AECC-F446-2F57D8D61579}"/>
            </a:ext>
          </a:extLst>
        </p:cNvPr>
        <p:cNvGrpSpPr/>
        <p:nvPr/>
      </p:nvGrpSpPr>
      <p:grpSpPr>
        <a:xfrm>
          <a:off x="0" y="0"/>
          <a:ext cx="0" cy="0"/>
          <a:chOff x="0" y="0"/>
          <a:chExt cx="0" cy="0"/>
        </a:xfrm>
      </p:grpSpPr>
      <p:sp>
        <p:nvSpPr>
          <p:cNvPr id="10" name="Title 3">
            <a:extLst>
              <a:ext uri="{FF2B5EF4-FFF2-40B4-BE49-F238E27FC236}">
                <a16:creationId xmlns:a16="http://schemas.microsoft.com/office/drawing/2014/main" id="{5293D87F-FFCC-CDE4-5262-6542E027FE8F}"/>
              </a:ext>
            </a:extLst>
          </p:cNvPr>
          <p:cNvSpPr txBox="1">
            <a:spLocks/>
          </p:cNvSpPr>
          <p:nvPr/>
        </p:nvSpPr>
        <p:spPr>
          <a:xfrm>
            <a:off x="457200" y="243192"/>
            <a:ext cx="8229600" cy="548640"/>
          </a:xfrm>
          <a:prstGeom prst="rect">
            <a:avLst/>
          </a:prstGeom>
        </p:spPr>
        <p:txBody>
          <a:bodyPr/>
          <a:lstStyle>
            <a:lvl1pPr algn="ctr" defTabSz="914400" rtl="0" eaLnBrk="1" latinLnBrk="0" hangingPunct="1">
              <a:spcBef>
                <a:spcPct val="0"/>
              </a:spcBef>
              <a:buNone/>
              <a:defRPr sz="27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Context-Isolated Subagents</a:t>
            </a:r>
            <a:endParaRPr lang="en-US" sz="2400" dirty="0">
              <a:ea typeface="+mn-ea"/>
              <a:cs typeface="+mn-cs"/>
            </a:endParaRPr>
          </a:p>
        </p:txBody>
      </p:sp>
      <p:pic>
        <p:nvPicPr>
          <p:cNvPr id="13" name="Picture 12">
            <a:extLst>
              <a:ext uri="{FF2B5EF4-FFF2-40B4-BE49-F238E27FC236}">
                <a16:creationId xmlns:a16="http://schemas.microsoft.com/office/drawing/2014/main" id="{DD2EAF8A-AAF7-803F-0B63-2199E59D1A5C}"/>
              </a:ext>
            </a:extLst>
          </p:cNvPr>
          <p:cNvPicPr>
            <a:picLocks noChangeAspect="1"/>
          </p:cNvPicPr>
          <p:nvPr/>
        </p:nvPicPr>
        <p:blipFill>
          <a:blip r:embed="rId3"/>
          <a:stretch>
            <a:fillRect/>
          </a:stretch>
        </p:blipFill>
        <p:spPr>
          <a:xfrm>
            <a:off x="7925482" y="1388"/>
            <a:ext cx="1218518" cy="1032248"/>
          </a:xfrm>
          <a:prstGeom prst="rect">
            <a:avLst/>
          </a:prstGeom>
        </p:spPr>
      </p:pic>
      <p:pic>
        <p:nvPicPr>
          <p:cNvPr id="4" name="Picture 3" descr="Simplified diagram">
            <a:extLst>
              <a:ext uri="{FF2B5EF4-FFF2-40B4-BE49-F238E27FC236}">
                <a16:creationId xmlns:a16="http://schemas.microsoft.com/office/drawing/2014/main" id="{2B41CF21-72B9-7528-644F-3CEDA2C37EF0}"/>
              </a:ext>
            </a:extLst>
          </p:cNvPr>
          <p:cNvPicPr>
            <a:picLocks noChangeAspect="1"/>
          </p:cNvPicPr>
          <p:nvPr/>
        </p:nvPicPr>
        <p:blipFill>
          <a:blip r:embed="rId4"/>
          <a:stretch>
            <a:fillRect/>
          </a:stretch>
        </p:blipFill>
        <p:spPr>
          <a:xfrm>
            <a:off x="233329" y="1275440"/>
            <a:ext cx="8910671" cy="2971800"/>
          </a:xfrm>
          <a:prstGeom prst="rect">
            <a:avLst/>
          </a:prstGeom>
        </p:spPr>
      </p:pic>
    </p:spTree>
    <p:extLst>
      <p:ext uri="{BB962C8B-B14F-4D97-AF65-F5344CB8AC3E}">
        <p14:creationId xmlns:p14="http://schemas.microsoft.com/office/powerpoint/2010/main" val="2955042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586AAD-E6FC-B181-1812-E991D3F5B516}"/>
              </a:ext>
            </a:extLst>
          </p:cNvPr>
          <p:cNvPicPr>
            <a:picLocks noChangeAspect="1"/>
          </p:cNvPicPr>
          <p:nvPr/>
        </p:nvPicPr>
        <p:blipFill>
          <a:blip r:embed="rId3"/>
          <a:stretch>
            <a:fillRect/>
          </a:stretch>
        </p:blipFill>
        <p:spPr>
          <a:xfrm>
            <a:off x="7925482" y="-87822"/>
            <a:ext cx="1218518" cy="1032248"/>
          </a:xfrm>
          <a:prstGeom prst="rect">
            <a:avLst/>
          </a:prstGeom>
        </p:spPr>
      </p:pic>
      <p:pic>
        <p:nvPicPr>
          <p:cNvPr id="3" name="Picture 2">
            <a:extLst>
              <a:ext uri="{FF2B5EF4-FFF2-40B4-BE49-F238E27FC236}">
                <a16:creationId xmlns:a16="http://schemas.microsoft.com/office/drawing/2014/main" id="{C9199747-2644-E4F2-F4F4-25994B6277DC}"/>
              </a:ext>
            </a:extLst>
          </p:cNvPr>
          <p:cNvPicPr>
            <a:picLocks noChangeAspect="1"/>
          </p:cNvPicPr>
          <p:nvPr/>
        </p:nvPicPr>
        <p:blipFill>
          <a:blip r:embed="rId4"/>
          <a:stretch>
            <a:fillRect/>
          </a:stretch>
        </p:blipFill>
        <p:spPr>
          <a:xfrm>
            <a:off x="479272" y="219937"/>
            <a:ext cx="5692928" cy="4703626"/>
          </a:xfrm>
          <a:prstGeom prst="rect">
            <a:avLst/>
          </a:prstGeom>
        </p:spPr>
      </p:pic>
      <p:pic>
        <p:nvPicPr>
          <p:cNvPr id="4" name="Graphic 3">
            <a:extLst>
              <a:ext uri="{FF2B5EF4-FFF2-40B4-BE49-F238E27FC236}">
                <a16:creationId xmlns:a16="http://schemas.microsoft.com/office/drawing/2014/main" id="{953EFBB7-17B3-4156-F629-F85F126BBB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7357" y="4637877"/>
            <a:ext cx="2388476" cy="341211"/>
          </a:xfrm>
          <a:prstGeom prst="rect">
            <a:avLst/>
          </a:prstGeom>
        </p:spPr>
      </p:pic>
      <p:pic>
        <p:nvPicPr>
          <p:cNvPr id="8" name="Graphic 7">
            <a:extLst>
              <a:ext uri="{FF2B5EF4-FFF2-40B4-BE49-F238E27FC236}">
                <a16:creationId xmlns:a16="http://schemas.microsoft.com/office/drawing/2014/main" id="{74C188D3-A6FF-981F-B0C8-D10EFF4A8E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38194" y="4602216"/>
            <a:ext cx="412531" cy="412531"/>
          </a:xfrm>
          <a:prstGeom prst="rect">
            <a:avLst/>
          </a:prstGeom>
        </p:spPr>
      </p:pic>
    </p:spTree>
    <p:extLst>
      <p:ext uri="{BB962C8B-B14F-4D97-AF65-F5344CB8AC3E}">
        <p14:creationId xmlns:p14="http://schemas.microsoft.com/office/powerpoint/2010/main" val="3436746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948DA7-1725-9235-D624-DEA4F8A20FAA}"/>
              </a:ext>
            </a:extLst>
          </p:cNvPr>
          <p:cNvSpPr>
            <a:spLocks noGrp="1"/>
          </p:cNvSpPr>
          <p:nvPr>
            <p:ph type="body" sz="quarter" idx="10"/>
          </p:nvPr>
        </p:nvSpPr>
        <p:spPr>
          <a:xfrm>
            <a:off x="457200" y="1122918"/>
            <a:ext cx="8229600" cy="2469907"/>
          </a:xfrm>
        </p:spPr>
        <p:txBody>
          <a:bodyPr/>
          <a:lstStyle/>
          <a:p>
            <a:pPr marL="285750" indent="-285750">
              <a:buFont typeface="Arial" panose="020B0604020202020204" pitchFamily="34" charset="0"/>
              <a:buChar char="•"/>
            </a:pPr>
            <a:r>
              <a:rPr lang="en-US" dirty="0"/>
              <a:t>Context offloading</a:t>
            </a:r>
          </a:p>
          <a:p>
            <a:pPr marL="285750" indent="-285750">
              <a:buFont typeface="Arial" panose="020B0604020202020204" pitchFamily="34" charset="0"/>
              <a:buChar char="•"/>
            </a:pPr>
            <a:r>
              <a:rPr lang="en-US" dirty="0"/>
              <a:t>Summarization with proactive compression</a:t>
            </a:r>
          </a:p>
          <a:p>
            <a:pPr marL="285750" indent="-285750">
              <a:buFont typeface="Arial" panose="020B0604020202020204" pitchFamily="34" charset="0"/>
              <a:buChar char="•"/>
            </a:pPr>
            <a:r>
              <a:rPr lang="en-US" dirty="0"/>
              <a:t>Real-code investigation benchmark: 55% lower cost; accuracy 68% → 98%</a:t>
            </a:r>
          </a:p>
        </p:txBody>
      </p:sp>
      <p:sp>
        <p:nvSpPr>
          <p:cNvPr id="3" name="Title 2">
            <a:extLst>
              <a:ext uri="{FF2B5EF4-FFF2-40B4-BE49-F238E27FC236}">
                <a16:creationId xmlns:a16="http://schemas.microsoft.com/office/drawing/2014/main" id="{6D27E9E9-FA8D-346E-7001-72126BF933CF}"/>
              </a:ext>
            </a:extLst>
          </p:cNvPr>
          <p:cNvSpPr>
            <a:spLocks noGrp="1"/>
          </p:cNvSpPr>
          <p:nvPr>
            <p:ph type="title"/>
          </p:nvPr>
        </p:nvSpPr>
        <p:spPr>
          <a:xfrm>
            <a:off x="-1868320" y="83585"/>
            <a:ext cx="8229600" cy="443198"/>
          </a:xfrm>
        </p:spPr>
        <p:txBody>
          <a:bodyPr/>
          <a:lstStyle/>
          <a:p>
            <a:r>
              <a:rPr lang="en-US" dirty="0"/>
              <a:t>One-line default for </a:t>
            </a:r>
            <a:br>
              <a:rPr lang="en-US" dirty="0"/>
            </a:br>
            <a:r>
              <a:rPr lang="en-US" dirty="0"/>
              <a:t>context engineering</a:t>
            </a:r>
          </a:p>
        </p:txBody>
      </p:sp>
      <p:pic>
        <p:nvPicPr>
          <p:cNvPr id="6" name="Picture 5">
            <a:extLst>
              <a:ext uri="{FF2B5EF4-FFF2-40B4-BE49-F238E27FC236}">
                <a16:creationId xmlns:a16="http://schemas.microsoft.com/office/drawing/2014/main" id="{B2E230E5-3B5C-4686-F0FC-E6472E624EDD}"/>
              </a:ext>
            </a:extLst>
          </p:cNvPr>
          <p:cNvPicPr>
            <a:picLocks noChangeAspect="1"/>
          </p:cNvPicPr>
          <p:nvPr/>
        </p:nvPicPr>
        <p:blipFill>
          <a:blip r:embed="rId3"/>
          <a:stretch>
            <a:fillRect/>
          </a:stretch>
        </p:blipFill>
        <p:spPr>
          <a:xfrm>
            <a:off x="6743797" y="75444"/>
            <a:ext cx="1193112" cy="864671"/>
          </a:xfrm>
          <a:prstGeom prst="rect">
            <a:avLst/>
          </a:prstGeom>
        </p:spPr>
      </p:pic>
      <p:pic>
        <p:nvPicPr>
          <p:cNvPr id="7" name="Picture 6">
            <a:extLst>
              <a:ext uri="{FF2B5EF4-FFF2-40B4-BE49-F238E27FC236}">
                <a16:creationId xmlns:a16="http://schemas.microsoft.com/office/drawing/2014/main" id="{85CF88A2-065F-E82B-4609-8E64ACA1A4DE}"/>
              </a:ext>
            </a:extLst>
          </p:cNvPr>
          <p:cNvPicPr>
            <a:picLocks noChangeAspect="1"/>
          </p:cNvPicPr>
          <p:nvPr/>
        </p:nvPicPr>
        <p:blipFill>
          <a:blip r:embed="rId4"/>
          <a:stretch>
            <a:fillRect/>
          </a:stretch>
        </p:blipFill>
        <p:spPr>
          <a:xfrm>
            <a:off x="5776833" y="83585"/>
            <a:ext cx="1168893" cy="848390"/>
          </a:xfrm>
          <a:prstGeom prst="rect">
            <a:avLst/>
          </a:prstGeom>
        </p:spPr>
      </p:pic>
      <p:pic>
        <p:nvPicPr>
          <p:cNvPr id="8" name="Picture 7">
            <a:extLst>
              <a:ext uri="{FF2B5EF4-FFF2-40B4-BE49-F238E27FC236}">
                <a16:creationId xmlns:a16="http://schemas.microsoft.com/office/drawing/2014/main" id="{EB9B8691-C2BF-05D7-446B-A50109494F78}"/>
              </a:ext>
            </a:extLst>
          </p:cNvPr>
          <p:cNvPicPr>
            <a:picLocks noChangeAspect="1"/>
          </p:cNvPicPr>
          <p:nvPr/>
        </p:nvPicPr>
        <p:blipFill>
          <a:blip r:embed="rId5"/>
          <a:stretch>
            <a:fillRect/>
          </a:stretch>
        </p:blipFill>
        <p:spPr>
          <a:xfrm>
            <a:off x="7734979" y="133698"/>
            <a:ext cx="1227982" cy="863096"/>
          </a:xfrm>
          <a:prstGeom prst="rect">
            <a:avLst/>
          </a:prstGeom>
        </p:spPr>
      </p:pic>
      <p:pic>
        <p:nvPicPr>
          <p:cNvPr id="9" name="Picture 8">
            <a:extLst>
              <a:ext uri="{FF2B5EF4-FFF2-40B4-BE49-F238E27FC236}">
                <a16:creationId xmlns:a16="http://schemas.microsoft.com/office/drawing/2014/main" id="{4249BCB0-17E5-88C8-9381-18C4437FC768}"/>
              </a:ext>
            </a:extLst>
          </p:cNvPr>
          <p:cNvPicPr>
            <a:picLocks noChangeAspect="1"/>
          </p:cNvPicPr>
          <p:nvPr/>
        </p:nvPicPr>
        <p:blipFill>
          <a:blip r:embed="rId6"/>
          <a:stretch>
            <a:fillRect/>
          </a:stretch>
        </p:blipFill>
        <p:spPr>
          <a:xfrm>
            <a:off x="594360" y="3246120"/>
            <a:ext cx="4526280" cy="1508760"/>
          </a:xfrm>
          <a:prstGeom prst="rect">
            <a:avLst/>
          </a:prstGeom>
        </p:spPr>
      </p:pic>
      <p:pic>
        <p:nvPicPr>
          <p:cNvPr id="10" name="Picture 9">
            <a:extLst>
              <a:ext uri="{FF2B5EF4-FFF2-40B4-BE49-F238E27FC236}">
                <a16:creationId xmlns:a16="http://schemas.microsoft.com/office/drawing/2014/main" id="{9E07F8BA-62EA-664D-E66E-37F6A21A7E42}"/>
              </a:ext>
            </a:extLst>
          </p:cNvPr>
          <p:cNvPicPr>
            <a:picLocks noChangeAspect="1"/>
          </p:cNvPicPr>
          <p:nvPr/>
        </p:nvPicPr>
        <p:blipFill>
          <a:blip r:embed="rId7"/>
          <a:stretch>
            <a:fillRect/>
          </a:stretch>
        </p:blipFill>
        <p:spPr>
          <a:xfrm>
            <a:off x="4881919" y="53450"/>
            <a:ext cx="1072625" cy="908657"/>
          </a:xfrm>
          <a:prstGeom prst="rect">
            <a:avLst/>
          </a:prstGeom>
        </p:spPr>
      </p:pic>
    </p:spTree>
    <p:extLst>
      <p:ext uri="{BB962C8B-B14F-4D97-AF65-F5344CB8AC3E}">
        <p14:creationId xmlns:p14="http://schemas.microsoft.com/office/powerpoint/2010/main" val="1577025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7925F-BFD9-86C9-32E6-6D0590A9782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E42A0A-4B71-6D06-1457-6AE436D232DD}"/>
              </a:ext>
            </a:extLst>
          </p:cNvPr>
          <p:cNvSpPr>
            <a:spLocks noGrp="1"/>
          </p:cNvSpPr>
          <p:nvPr>
            <p:ph type="body" sz="quarter" idx="10"/>
          </p:nvPr>
        </p:nvSpPr>
        <p:spPr>
          <a:xfrm>
            <a:off x="6492240" y="1349359"/>
            <a:ext cx="2651760" cy="2743200"/>
          </a:xfrm>
        </p:spPr>
        <p:txBody>
          <a:bodyPr/>
          <a:lstStyle/>
          <a:p>
            <a:pPr marL="285750" indent="-285750">
              <a:buFont typeface="Arial" panose="020B0604020202020204" pitchFamily="34" charset="0"/>
              <a:buChar char="•"/>
            </a:pPr>
            <a:r>
              <a:rPr lang="en-US" sz="1700" dirty="0"/>
              <a:t>Context management and vended tools</a:t>
            </a:r>
          </a:p>
          <a:p>
            <a:pPr marL="285750" indent="-285750">
              <a:buFont typeface="Arial" panose="020B0604020202020204" pitchFamily="34" charset="0"/>
              <a:buChar char="•"/>
            </a:pPr>
            <a:r>
              <a:rPr lang="en-US" sz="1700" dirty="0"/>
              <a:t>Skills and isolated subagents</a:t>
            </a:r>
          </a:p>
          <a:p>
            <a:pPr marL="285750" indent="-285750">
              <a:buFont typeface="Arial" panose="020B0604020202020204" pitchFamily="34" charset="0"/>
              <a:buChar char="•"/>
            </a:pPr>
            <a:r>
              <a:rPr lang="en-US" sz="1700" dirty="0"/>
              <a:t>Sessions and long-term memory</a:t>
            </a:r>
          </a:p>
        </p:txBody>
      </p:sp>
      <p:sp>
        <p:nvSpPr>
          <p:cNvPr id="3" name="Title 2">
            <a:extLst>
              <a:ext uri="{FF2B5EF4-FFF2-40B4-BE49-F238E27FC236}">
                <a16:creationId xmlns:a16="http://schemas.microsoft.com/office/drawing/2014/main" id="{54BF17BD-2421-5644-E19C-79D93698AF4F}"/>
              </a:ext>
            </a:extLst>
          </p:cNvPr>
          <p:cNvSpPr>
            <a:spLocks noGrp="1"/>
          </p:cNvSpPr>
          <p:nvPr>
            <p:ph type="title"/>
          </p:nvPr>
        </p:nvSpPr>
        <p:spPr>
          <a:xfrm>
            <a:off x="-2316413" y="96405"/>
            <a:ext cx="8229600" cy="443198"/>
          </a:xfrm>
        </p:spPr>
        <p:txBody>
          <a:bodyPr/>
          <a:lstStyle/>
          <a:p>
            <a:r>
              <a:rPr lang="en-US" dirty="0"/>
              <a:t>Strands harness</a:t>
            </a:r>
          </a:p>
        </p:txBody>
      </p:sp>
      <p:pic>
        <p:nvPicPr>
          <p:cNvPr id="6" name="Picture 5">
            <a:extLst>
              <a:ext uri="{FF2B5EF4-FFF2-40B4-BE49-F238E27FC236}">
                <a16:creationId xmlns:a16="http://schemas.microsoft.com/office/drawing/2014/main" id="{64E7F3AA-DA7B-01BF-484A-796B1C60D162}"/>
              </a:ext>
            </a:extLst>
          </p:cNvPr>
          <p:cNvPicPr>
            <a:picLocks noChangeAspect="1"/>
          </p:cNvPicPr>
          <p:nvPr/>
        </p:nvPicPr>
        <p:blipFill>
          <a:blip r:embed="rId3"/>
          <a:stretch>
            <a:fillRect/>
          </a:stretch>
        </p:blipFill>
        <p:spPr>
          <a:xfrm>
            <a:off x="6743797" y="75444"/>
            <a:ext cx="1193112" cy="864671"/>
          </a:xfrm>
          <a:prstGeom prst="rect">
            <a:avLst/>
          </a:prstGeom>
        </p:spPr>
      </p:pic>
      <p:pic>
        <p:nvPicPr>
          <p:cNvPr id="8" name="Picture 7">
            <a:extLst>
              <a:ext uri="{FF2B5EF4-FFF2-40B4-BE49-F238E27FC236}">
                <a16:creationId xmlns:a16="http://schemas.microsoft.com/office/drawing/2014/main" id="{58484E21-2CF1-37F4-DA7C-6DD2060F5EBB}"/>
              </a:ext>
            </a:extLst>
          </p:cNvPr>
          <p:cNvPicPr>
            <a:picLocks noChangeAspect="1"/>
          </p:cNvPicPr>
          <p:nvPr/>
        </p:nvPicPr>
        <p:blipFill>
          <a:blip r:embed="rId4"/>
          <a:stretch>
            <a:fillRect/>
          </a:stretch>
        </p:blipFill>
        <p:spPr>
          <a:xfrm>
            <a:off x="7734979" y="133698"/>
            <a:ext cx="1227982" cy="863096"/>
          </a:xfrm>
          <a:prstGeom prst="rect">
            <a:avLst/>
          </a:prstGeom>
        </p:spPr>
      </p:pic>
      <p:pic>
        <p:nvPicPr>
          <p:cNvPr id="5" name="Picture 4">
            <a:extLst>
              <a:ext uri="{FF2B5EF4-FFF2-40B4-BE49-F238E27FC236}">
                <a16:creationId xmlns:a16="http://schemas.microsoft.com/office/drawing/2014/main" id="{C10AA441-2DDF-3F89-8E8A-A9E11A7ACC00}"/>
              </a:ext>
            </a:extLst>
          </p:cNvPr>
          <p:cNvPicPr>
            <a:picLocks noChangeAspect="1"/>
          </p:cNvPicPr>
          <p:nvPr/>
        </p:nvPicPr>
        <p:blipFill>
          <a:blip r:embed="rId5"/>
          <a:stretch>
            <a:fillRect/>
          </a:stretch>
        </p:blipFill>
        <p:spPr>
          <a:xfrm>
            <a:off x="286039" y="699802"/>
            <a:ext cx="6266499" cy="3255166"/>
          </a:xfrm>
          <a:prstGeom prst="rect">
            <a:avLst/>
          </a:prstGeom>
        </p:spPr>
      </p:pic>
      <p:pic>
        <p:nvPicPr>
          <p:cNvPr id="10" name="Picture 9">
            <a:extLst>
              <a:ext uri="{FF2B5EF4-FFF2-40B4-BE49-F238E27FC236}">
                <a16:creationId xmlns:a16="http://schemas.microsoft.com/office/drawing/2014/main" id="{BB0AFBF0-F47C-EE1A-B45C-FB3003886353}"/>
              </a:ext>
            </a:extLst>
          </p:cNvPr>
          <p:cNvPicPr>
            <a:picLocks noChangeAspect="1"/>
          </p:cNvPicPr>
          <p:nvPr/>
        </p:nvPicPr>
        <p:blipFill>
          <a:blip r:embed="rId6"/>
          <a:stretch>
            <a:fillRect/>
          </a:stretch>
        </p:blipFill>
        <p:spPr>
          <a:xfrm>
            <a:off x="4881919" y="23318"/>
            <a:ext cx="1072625" cy="908657"/>
          </a:xfrm>
          <a:prstGeom prst="rect">
            <a:avLst/>
          </a:prstGeom>
        </p:spPr>
      </p:pic>
      <p:pic>
        <p:nvPicPr>
          <p:cNvPr id="11" name="Graphic 10">
            <a:extLst>
              <a:ext uri="{FF2B5EF4-FFF2-40B4-BE49-F238E27FC236}">
                <a16:creationId xmlns:a16="http://schemas.microsoft.com/office/drawing/2014/main" id="{193B4718-736F-F059-DCED-5EE1E8C0F6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7357" y="4637877"/>
            <a:ext cx="2388476" cy="341211"/>
          </a:xfrm>
          <a:prstGeom prst="rect">
            <a:avLst/>
          </a:prstGeom>
        </p:spPr>
      </p:pic>
      <p:pic>
        <p:nvPicPr>
          <p:cNvPr id="12" name="Graphic 11">
            <a:extLst>
              <a:ext uri="{FF2B5EF4-FFF2-40B4-BE49-F238E27FC236}">
                <a16:creationId xmlns:a16="http://schemas.microsoft.com/office/drawing/2014/main" id="{576F8D32-80F0-E50F-E709-E0ED4112D10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38194" y="4602216"/>
            <a:ext cx="412531" cy="412531"/>
          </a:xfrm>
          <a:prstGeom prst="rect">
            <a:avLst/>
          </a:prstGeom>
        </p:spPr>
      </p:pic>
      <p:pic>
        <p:nvPicPr>
          <p:cNvPr id="7" name="Picture 6">
            <a:extLst>
              <a:ext uri="{FF2B5EF4-FFF2-40B4-BE49-F238E27FC236}">
                <a16:creationId xmlns:a16="http://schemas.microsoft.com/office/drawing/2014/main" id="{FEB3F51B-FD7D-34DD-FC82-26C4FD17E6B1}"/>
              </a:ext>
            </a:extLst>
          </p:cNvPr>
          <p:cNvPicPr>
            <a:picLocks noChangeAspect="1"/>
          </p:cNvPicPr>
          <p:nvPr/>
        </p:nvPicPr>
        <p:blipFill>
          <a:blip r:embed="rId9"/>
          <a:stretch>
            <a:fillRect/>
          </a:stretch>
        </p:blipFill>
        <p:spPr>
          <a:xfrm>
            <a:off x="5735476" y="91725"/>
            <a:ext cx="1168893" cy="848390"/>
          </a:xfrm>
          <a:prstGeom prst="rect">
            <a:avLst/>
          </a:prstGeom>
        </p:spPr>
      </p:pic>
    </p:spTree>
    <p:extLst>
      <p:ext uri="{BB962C8B-B14F-4D97-AF65-F5344CB8AC3E}">
        <p14:creationId xmlns:p14="http://schemas.microsoft.com/office/powerpoint/2010/main" val="38240438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13E92C5-94DB-3D56-FEF8-1665C9EE227D}"/>
              </a:ext>
            </a:extLst>
          </p:cNvPr>
          <p:cNvSpPr>
            <a:spLocks noGrp="1"/>
          </p:cNvSpPr>
          <p:nvPr>
            <p:ph type="body" sz="quarter" idx="10"/>
          </p:nvPr>
        </p:nvSpPr>
        <p:spPr>
          <a:xfrm>
            <a:off x="-1645798" y="3070901"/>
            <a:ext cx="8229600" cy="3474720"/>
          </a:xfrm>
        </p:spPr>
        <p:txBody>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Examples using Strands</a:t>
            </a:r>
          </a:p>
        </p:txBody>
      </p:sp>
      <p:sp>
        <p:nvSpPr>
          <p:cNvPr id="3" name="Slide Number Placeholder 2">
            <a:extLst>
              <a:ext uri="{FF2B5EF4-FFF2-40B4-BE49-F238E27FC236}">
                <a16:creationId xmlns:a16="http://schemas.microsoft.com/office/drawing/2014/main" id="{751A9D39-A558-B5DA-39F6-2C49B4360A04}"/>
              </a:ext>
            </a:extLst>
          </p:cNvPr>
          <p:cNvSpPr>
            <a:spLocks noGrp="1"/>
          </p:cNvSpPr>
          <p:nvPr>
            <p:ph type="sldNum" sz="quarter" idx="13"/>
          </p:nvPr>
        </p:nvSpPr>
        <p:spPr/>
        <p:txBody>
          <a:bodyPr/>
          <a:lstStyle/>
          <a:p>
            <a:r>
              <a:rPr lang="en-US" dirty="0"/>
              <a:t> </a:t>
            </a:r>
          </a:p>
        </p:txBody>
      </p:sp>
      <p:sp>
        <p:nvSpPr>
          <p:cNvPr id="5" name="Title 3">
            <a:extLst>
              <a:ext uri="{FF2B5EF4-FFF2-40B4-BE49-F238E27FC236}">
                <a16:creationId xmlns:a16="http://schemas.microsoft.com/office/drawing/2014/main" id="{33EA510D-A990-3CB9-CEA6-BD80F2D51A20}"/>
              </a:ext>
            </a:extLst>
          </p:cNvPr>
          <p:cNvSpPr>
            <a:spLocks noGrp="1"/>
          </p:cNvSpPr>
          <p:nvPr>
            <p:ph type="title"/>
          </p:nvPr>
        </p:nvSpPr>
        <p:spPr>
          <a:xfrm>
            <a:off x="-1567977" y="2428875"/>
            <a:ext cx="8229600" cy="548640"/>
          </a:xfrm>
        </p:spPr>
        <p:txBody>
          <a:bodyPr/>
          <a:lstStyle/>
          <a:p>
            <a:r>
              <a:rPr lang="en-US" dirty="0">
                <a:solidFill>
                  <a:schemeClr val="tx1"/>
                </a:solidFill>
              </a:rPr>
              <a:t>Try it Yourself</a:t>
            </a:r>
            <a:endParaRPr lang="en-US" sz="2400" dirty="0">
              <a:solidFill>
                <a:schemeClr val="tx1"/>
              </a:solidFill>
              <a:ea typeface="+mn-ea"/>
              <a:cs typeface="+mn-cs"/>
            </a:endParaRPr>
          </a:p>
        </p:txBody>
      </p:sp>
      <p:pic>
        <p:nvPicPr>
          <p:cNvPr id="6" name="Graphic 5">
            <a:extLst>
              <a:ext uri="{FF2B5EF4-FFF2-40B4-BE49-F238E27FC236}">
                <a16:creationId xmlns:a16="http://schemas.microsoft.com/office/drawing/2014/main" id="{F03B884D-A2E8-9068-7231-268E7F40F9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8548" y="685800"/>
            <a:ext cx="3486150" cy="3486150"/>
          </a:xfrm>
          <a:prstGeom prst="rect">
            <a:avLst/>
          </a:prstGeom>
        </p:spPr>
      </p:pic>
      <p:sp>
        <p:nvSpPr>
          <p:cNvPr id="7" name="Title 3">
            <a:extLst>
              <a:ext uri="{FF2B5EF4-FFF2-40B4-BE49-F238E27FC236}">
                <a16:creationId xmlns:a16="http://schemas.microsoft.com/office/drawing/2014/main" id="{F044BD29-F4B7-9AF3-3A28-DDC284022AC3}"/>
              </a:ext>
            </a:extLst>
          </p:cNvPr>
          <p:cNvSpPr txBox="1">
            <a:spLocks/>
          </p:cNvSpPr>
          <p:nvPr/>
        </p:nvSpPr>
        <p:spPr>
          <a:xfrm>
            <a:off x="-1645798" y="1160983"/>
            <a:ext cx="8229600" cy="548640"/>
          </a:xfrm>
          <a:prstGeom prst="rect">
            <a:avLst/>
          </a:prstGeom>
        </p:spPr>
        <p:txBody>
          <a:bodyPr anchor="ctr" anchorCtr="0"/>
          <a:lstStyle>
            <a:lvl1pPr algn="ctr" defTabSz="914400" rtl="0" eaLnBrk="1" latinLnBrk="0" hangingPunct="1">
              <a:spcBef>
                <a:spcPct val="0"/>
              </a:spcBef>
              <a:buNone/>
              <a:defRPr sz="3600" b="0" i="0" kern="12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solidFill>
                  <a:schemeClr val="tx1"/>
                </a:solidFill>
              </a:rPr>
              <a:t>Thank you!</a:t>
            </a:r>
            <a:endParaRPr lang="en-US" sz="2400" dirty="0">
              <a:solidFill>
                <a:schemeClr val="tx1"/>
              </a:solidFill>
              <a:ea typeface="+mn-ea"/>
              <a:cs typeface="+mn-cs"/>
            </a:endParaRPr>
          </a:p>
        </p:txBody>
      </p:sp>
    </p:spTree>
    <p:extLst>
      <p:ext uri="{BB962C8B-B14F-4D97-AF65-F5344CB8AC3E}">
        <p14:creationId xmlns:p14="http://schemas.microsoft.com/office/powerpoint/2010/main" val="2506341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34080</TotalTime>
  <Words>1949</Words>
  <Application>Microsoft Macintosh PowerPoint</Application>
  <PresentationFormat>On-screen Show (16:9)</PresentationFormat>
  <Paragraphs>107</Paragraphs>
  <Slides>21</Slides>
  <Notes>19</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Amazon Ember</vt:lpstr>
      <vt:lpstr>Amazon Ember Display</vt:lpstr>
      <vt:lpstr>Amazon Ember Mono</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The Starting Point: Conversation Management</vt:lpstr>
      <vt:lpstr>PowerPoint Presentation</vt:lpstr>
      <vt:lpstr>Tiered Memory</vt:lpstr>
      <vt:lpstr>PowerPoint Presentation</vt:lpstr>
      <vt:lpstr>PowerPoint Presentation</vt:lpstr>
      <vt:lpstr>Tool-Driven Context Injection</vt:lpstr>
      <vt:lpstr>PowerPoint Presentation</vt:lpstr>
      <vt:lpstr>Offload Large Tool Results</vt:lpstr>
      <vt:lpstr>PowerPoint Presentation</vt:lpstr>
      <vt:lpstr>Context management in one line</vt:lpstr>
      <vt:lpstr>PowerPoint Presentation</vt:lpstr>
      <vt:lpstr>PowerPoint Presentation</vt:lpstr>
      <vt:lpstr>One-line default for  context engineering</vt:lpstr>
      <vt:lpstr>Strands harness</vt:lpstr>
      <vt:lpstr>Try it Yourself</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 Need To Talk About AI Agent Architectures</dc:title>
  <dc:subject>PptxGenJS Presentation</dc:subject>
  <dc:creator>AWS User Group</dc:creator>
  <cp:lastModifiedBy>Willis, Morgan</cp:lastModifiedBy>
  <cp:revision>262</cp:revision>
  <dcterms:created xsi:type="dcterms:W3CDTF">2026-02-10T22:46:23Z</dcterms:created>
  <dcterms:modified xsi:type="dcterms:W3CDTF">2026-10-01T21:52:12Z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2026-02-11T16:42:27Z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eb8b26ec-2136-40a6-9a7b-3d5e161544c5</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